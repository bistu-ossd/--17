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5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.svg" ContentType="image/svg+xml"/>
  <Override PartName="/ppt/media/image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custDataLst>
    <p:tags r:id="rId2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36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8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第17组。今天我们将为大家汇报我们的课程实践项目——“星座运势查询系统”。这个项目是一个基于Python的控制台应用，旨在通过开源协作的方式，实现一个功能完整、流程规范的小型软件。接下来，我们将从项目概述、开发流程、遇到的问题以及最终成果等方面进行详细介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分为六个部分。首先，我们会介绍项目的背景和需求。接着，阐述系统的架构设计和团队分工。然后，重点展示我们如何利用GitHub进行高效的开源协作。之后，分享我们在测试过程中遇到的问题及解决方案。最后，展示项目成果并进行总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概述。我们发现，市面上关于星座的数据非常零散，开发者需要花费大量时间去整理。因此，我们的目标是创建一个标准化的星座信息库，让开发者可以直接使用。项目的核心功能包括用户输入生日、系统匹配星座、展示运势信息，并具备基本的异常处理能力，确保程序的健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系统设计上，我们采用了模块化的架构。整个项目分为四个层次：负责流程控制的入口层main.py，负责核心逻辑的judge.py，负责数据存储的data.py，以及负责结果展示的show.py。这种分层设计使得各模块职责清晰，便于独立开发和维护。右侧展示了我们项目的完整文件结构，包括核心代码文件和必要的文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团队共有5名成员，进行了明确的分工。赵月伊作为组长，负责项目协调和版本集成；吴睿轩负责展示模块；邹心宜负责数据模块；闫烁燃负责核心逻辑；刘桐言负责主程序和文档。我们的开发流程遵循标准的敏捷开发模式，从项目启动、任务拆分，到并行开发、代码评审，再到最终的测试和发布，每一步都有条不紊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本次项目的重点——GitHub协作流程。首先是任务拆分和Issue管理。我们在GitHub上创建了组织仓库，并将项目拆分成多个独立的Issue，每个Issue都有清晰的描述和验收标准，并指派给相应的成员。这种方式让任务分工非常明确，所有讨论和进度都有记录，大大提高了协作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在开发过程中，我们严格遵守分支开发的规范。每个成员在自己的功能分支上工作，完成后提交Pull Request。组长会对每一个PR进行严格的代码评审。例如，在一次评审中，我们发现了judge.py文件中的语法错误，并及时要求开发者修复。这个过程确保了代码质量，避免了错误代码合并到主干。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当所有功能开发完成并通过测试后，我们进行了版本发布。我们创建了v1.0的版本标签，并撰写了详细的Release Notes，说明了版本的主要功能和更新内容。最后，发布了正式的Release版本。这不仅为我们的项目提供了一个稳定的归档版本，也完整地展示了开源项目的发布流程。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项目质量，我们采用了人工功能测试和本地调试相结合的方法。在开发过程中，每个成员都会对自己负责的模块进行单元测试。在所有模块合并后，我们进行了整体联调，通过输入各种测试用例，包括合法日期、边界日期和非法输入，来全面验证系统的功能和稳定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发过程中，我们遇到了两个主要的技术问题。第一个是模块间数据字段命名不统一，导致联调失败。我们通过统一命名规范解决了这个问题。第二个是核心逻辑模块judge.py的输入校验存在缺陷，无法处理非法输入。我们根据代码评审的反馈，修复了语法错误并重构了异常处理逻辑，最终解决了这个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经过团队的努力，我们成功实现了项目的所有核心功能。用户可以在控制台输入生日，系统会准确地返回对应的星座信息，包括性格、桃花和财运。大家可以看到，我们的界面设计简洁美观。此外，我们还编写了详细的README文档和开源许可证，确保项目的完整性和开源属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个项目，我们收获颇丰。在技术层面，我们不仅提升了Python编程能力，还学会了如何进行模块化开发和高效的问题排查。在协作层面，我们完整地实践了GitHub的开源协作流程，深刻理解了代码评审对于保证项目质量的重要性，也体会到了团队合作的力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当然，我们也进行了深刻的反思。首先，我们认识到编码规范的重要性，前期的不统一给我们带来了不必要的麻烦。其次，Code Review的价值巨大，它帮助我们提前发现并解决了很多问题。最后，清晰的任务定义是高效协作的基础。这些经验都将对我们未来的项目开发产生积极的影响。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我的汇报到此结束，感谢各位老师和同学的聆听。我们非常乐意回答大家可能有的任何问题。谢谢！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3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3.svg"/><Relationship Id="rId7" Type="http://schemas.openxmlformats.org/officeDocument/2006/relationships/image" Target="../media/image2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8" Type="http://schemas.openxmlformats.org/officeDocument/2006/relationships/notesSlide" Target="../notesSlides/notesSlide5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55.xml"/><Relationship Id="rId35" Type="http://schemas.openxmlformats.org/officeDocument/2006/relationships/tags" Target="../tags/tag54.xml"/><Relationship Id="rId34" Type="http://schemas.openxmlformats.org/officeDocument/2006/relationships/tags" Target="../tags/tag53.xml"/><Relationship Id="rId33" Type="http://schemas.openxmlformats.org/officeDocument/2006/relationships/tags" Target="../tags/tag52.xml"/><Relationship Id="rId32" Type="http://schemas.openxmlformats.org/officeDocument/2006/relationships/tags" Target="../tags/tag51.xml"/><Relationship Id="rId31" Type="http://schemas.openxmlformats.org/officeDocument/2006/relationships/tags" Target="../tags/tag50.xml"/><Relationship Id="rId30" Type="http://schemas.openxmlformats.org/officeDocument/2006/relationships/tags" Target="../tags/tag49.xml"/><Relationship Id="rId3" Type="http://schemas.openxmlformats.org/officeDocument/2006/relationships/tags" Target="../tags/tag22.xml"/><Relationship Id="rId29" Type="http://schemas.openxmlformats.org/officeDocument/2006/relationships/tags" Target="../tags/tag48.xml"/><Relationship Id="rId28" Type="http://schemas.openxmlformats.org/officeDocument/2006/relationships/tags" Target="../tags/tag47.xml"/><Relationship Id="rId27" Type="http://schemas.openxmlformats.org/officeDocument/2006/relationships/tags" Target="../tags/tag46.xml"/><Relationship Id="rId26" Type="http://schemas.openxmlformats.org/officeDocument/2006/relationships/tags" Target="../tags/tag45.xml"/><Relationship Id="rId25" Type="http://schemas.openxmlformats.org/officeDocument/2006/relationships/tags" Target="../tags/tag44.xml"/><Relationship Id="rId24" Type="http://schemas.openxmlformats.org/officeDocument/2006/relationships/tags" Target="../tags/tag43.xml"/><Relationship Id="rId23" Type="http://schemas.openxmlformats.org/officeDocument/2006/relationships/tags" Target="../tags/tag42.xml"/><Relationship Id="rId22" Type="http://schemas.openxmlformats.org/officeDocument/2006/relationships/tags" Target="../tags/tag41.xml"/><Relationship Id="rId21" Type="http://schemas.openxmlformats.org/officeDocument/2006/relationships/tags" Target="../tags/tag40.xml"/><Relationship Id="rId20" Type="http://schemas.openxmlformats.org/officeDocument/2006/relationships/tags" Target="../tags/tag39.xml"/><Relationship Id="rId2" Type="http://schemas.openxmlformats.org/officeDocument/2006/relationships/tags" Target="../tags/tag21.xml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svg"/><Relationship Id="rId7" Type="http://schemas.openxmlformats.org/officeDocument/2006/relationships/image" Target="../media/image30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5.svg"/><Relationship Id="rId11" Type="http://schemas.openxmlformats.org/officeDocument/2006/relationships/image" Target="../media/image34.png"/><Relationship Id="rId10" Type="http://schemas.openxmlformats.org/officeDocument/2006/relationships/image" Target="../media/image33.svg"/><Relationship Id="rId1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image" Target="../media/image37.svg"/><Relationship Id="rId42" Type="http://schemas.openxmlformats.org/officeDocument/2006/relationships/notesSlide" Target="../notesSlides/notesSlide7.xml"/><Relationship Id="rId41" Type="http://schemas.openxmlformats.org/officeDocument/2006/relationships/slideLayout" Target="../slideLayouts/slideLayout12.xml"/><Relationship Id="rId40" Type="http://schemas.openxmlformats.org/officeDocument/2006/relationships/image" Target="../media/image50.png"/><Relationship Id="rId4" Type="http://schemas.openxmlformats.org/officeDocument/2006/relationships/image" Target="../media/image36.png"/><Relationship Id="rId39" Type="http://schemas.openxmlformats.org/officeDocument/2006/relationships/image" Target="../media/image49.jpeg"/><Relationship Id="rId38" Type="http://schemas.openxmlformats.org/officeDocument/2006/relationships/image" Target="../media/image48.png"/><Relationship Id="rId37" Type="http://schemas.openxmlformats.org/officeDocument/2006/relationships/image" Target="../media/image47.svg"/><Relationship Id="rId36" Type="http://schemas.openxmlformats.org/officeDocument/2006/relationships/image" Target="../media/image46.png"/><Relationship Id="rId35" Type="http://schemas.openxmlformats.org/officeDocument/2006/relationships/tags" Target="../tags/tag80.xml"/><Relationship Id="rId34" Type="http://schemas.openxmlformats.org/officeDocument/2006/relationships/tags" Target="../tags/tag79.xml"/><Relationship Id="rId33" Type="http://schemas.openxmlformats.org/officeDocument/2006/relationships/image" Target="../media/image45.svg"/><Relationship Id="rId32" Type="http://schemas.openxmlformats.org/officeDocument/2006/relationships/image" Target="../media/image44.png"/><Relationship Id="rId31" Type="http://schemas.openxmlformats.org/officeDocument/2006/relationships/tags" Target="../tags/tag78.xml"/><Relationship Id="rId30" Type="http://schemas.openxmlformats.org/officeDocument/2006/relationships/tags" Target="../tags/tag77.xml"/><Relationship Id="rId3" Type="http://schemas.openxmlformats.org/officeDocument/2006/relationships/tags" Target="../tags/tag58.xml"/><Relationship Id="rId29" Type="http://schemas.openxmlformats.org/officeDocument/2006/relationships/tags" Target="../tags/tag76.xml"/><Relationship Id="rId28" Type="http://schemas.openxmlformats.org/officeDocument/2006/relationships/tags" Target="../tags/tag75.xml"/><Relationship Id="rId27" Type="http://schemas.openxmlformats.org/officeDocument/2006/relationships/tags" Target="../tags/tag74.xml"/><Relationship Id="rId26" Type="http://schemas.openxmlformats.org/officeDocument/2006/relationships/image" Target="../media/image43.svg"/><Relationship Id="rId25" Type="http://schemas.openxmlformats.org/officeDocument/2006/relationships/image" Target="../media/image42.png"/><Relationship Id="rId24" Type="http://schemas.openxmlformats.org/officeDocument/2006/relationships/tags" Target="../tags/tag73.xml"/><Relationship Id="rId23" Type="http://schemas.openxmlformats.org/officeDocument/2006/relationships/tags" Target="../tags/tag72.xml"/><Relationship Id="rId22" Type="http://schemas.openxmlformats.org/officeDocument/2006/relationships/tags" Target="../tags/tag71.xml"/><Relationship Id="rId21" Type="http://schemas.openxmlformats.org/officeDocument/2006/relationships/tags" Target="../tags/tag70.xml"/><Relationship Id="rId20" Type="http://schemas.openxmlformats.org/officeDocument/2006/relationships/tags" Target="../tags/tag69.xml"/><Relationship Id="rId2" Type="http://schemas.openxmlformats.org/officeDocument/2006/relationships/tags" Target="../tags/tag57.xml"/><Relationship Id="rId19" Type="http://schemas.openxmlformats.org/officeDocument/2006/relationships/image" Target="../media/image41.svg"/><Relationship Id="rId18" Type="http://schemas.openxmlformats.org/officeDocument/2006/relationships/image" Target="../media/image40.png"/><Relationship Id="rId17" Type="http://schemas.openxmlformats.org/officeDocument/2006/relationships/tags" Target="../tags/tag68.xml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image" Target="../media/image39.svg"/><Relationship Id="rId11" Type="http://schemas.openxmlformats.org/officeDocument/2006/relationships/image" Target="../media/image38.png"/><Relationship Id="rId10" Type="http://schemas.openxmlformats.org/officeDocument/2006/relationships/tags" Target="../tags/tag63.xml"/><Relationship Id="rId1" Type="http://schemas.openxmlformats.org/officeDocument/2006/relationships/tags" Target="../tags/tag5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svg"/><Relationship Id="rId7" Type="http://schemas.openxmlformats.org/officeDocument/2006/relationships/image" Target="../media/image55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Relationship Id="rId3" Type="http://schemas.openxmlformats.org/officeDocument/2006/relationships/image" Target="../media/image51.png"/><Relationship Id="rId2" Type="http://schemas.openxmlformats.org/officeDocument/2006/relationships/image" Target="../media/image45.svg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33.svg"/><Relationship Id="rId13" Type="http://schemas.openxmlformats.org/officeDocument/2006/relationships/image" Target="../media/image32.png"/><Relationship Id="rId12" Type="http://schemas.openxmlformats.org/officeDocument/2006/relationships/image" Target="../media/image60.svg"/><Relationship Id="rId11" Type="http://schemas.openxmlformats.org/officeDocument/2006/relationships/image" Target="../media/image59.png"/><Relationship Id="rId10" Type="http://schemas.openxmlformats.org/officeDocument/2006/relationships/image" Target="../media/image58.svg"/><Relationship Id="rId1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png"/><Relationship Id="rId8" Type="http://schemas.openxmlformats.org/officeDocument/2006/relationships/image" Target="../media/image45.svg"/><Relationship Id="rId7" Type="http://schemas.openxmlformats.org/officeDocument/2006/relationships/image" Target="../media/image44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64.svg"/><Relationship Id="rId3" Type="http://schemas.openxmlformats.org/officeDocument/2006/relationships/image" Target="../media/image63.png"/><Relationship Id="rId2" Type="http://schemas.openxmlformats.org/officeDocument/2006/relationships/image" Target="../media/image62.svg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68.svg"/><Relationship Id="rId11" Type="http://schemas.openxmlformats.org/officeDocument/2006/relationships/image" Target="../media/image67.png"/><Relationship Id="rId10" Type="http://schemas.openxmlformats.org/officeDocument/2006/relationships/image" Target="../media/image66.svg"/><Relationship Id="rId1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2.svg"/><Relationship Id="rId3" Type="http://schemas.openxmlformats.org/officeDocument/2006/relationships/image" Target="../media/image71.png"/><Relationship Id="rId2" Type="http://schemas.openxmlformats.org/officeDocument/2006/relationships/image" Target="../media/image70.svg"/><Relationship Id="rId1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image" Target="../media/image54.svg"/><Relationship Id="rId7" Type="http://schemas.openxmlformats.org/officeDocument/2006/relationships/image" Target="../media/image53.png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4" Type="http://schemas.openxmlformats.org/officeDocument/2006/relationships/image" Target="../media/image76.svg"/><Relationship Id="rId3" Type="http://schemas.openxmlformats.org/officeDocument/2006/relationships/image" Target="../media/image75.png"/><Relationship Id="rId2" Type="http://schemas.openxmlformats.org/officeDocument/2006/relationships/image" Target="../media/image74.svg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81.png"/><Relationship Id="rId10" Type="http://schemas.openxmlformats.org/officeDocument/2006/relationships/image" Target="../media/image80.svg"/><Relationship Id="rId1" Type="http://schemas.openxmlformats.org/officeDocument/2006/relationships/image" Target="../media/image73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5.svg"/><Relationship Id="rId3" Type="http://schemas.openxmlformats.org/officeDocument/2006/relationships/image" Target="../media/image84.png"/><Relationship Id="rId2" Type="http://schemas.openxmlformats.org/officeDocument/2006/relationships/image" Target="../media/image83.svg"/><Relationship Id="rId1" Type="http://schemas.openxmlformats.org/officeDocument/2006/relationships/image" Target="../media/image8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91.svg"/><Relationship Id="rId5" Type="http://schemas.openxmlformats.org/officeDocument/2006/relationships/image" Target="../media/image90.png"/><Relationship Id="rId4" Type="http://schemas.openxmlformats.org/officeDocument/2006/relationships/image" Target="../media/image89.svg"/><Relationship Id="rId3" Type="http://schemas.openxmlformats.org/officeDocument/2006/relationships/image" Target="../media/image88.png"/><Relationship Id="rId2" Type="http://schemas.openxmlformats.org/officeDocument/2006/relationships/image" Target="../media/image87.svg"/><Relationship Id="rId1" Type="http://schemas.openxmlformats.org/officeDocument/2006/relationships/image" Target="../media/image8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83000" y="-381000"/>
            <a:ext cx="4572000" cy="4572000"/>
          </a:xfrm>
          <a:prstGeom prst="ellipse">
            <a:avLst/>
          </a:prstGeom>
          <a:solidFill>
            <a:srgbClr val="D4AF37">
              <a:alpha val="15000"/>
            </a:srgbClr>
          </a:solidFill>
          <a:ln cap="flat" cmpd="sng">
            <a:solidFill>
              <a:srgbClr val="BB961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762000" y="4826000"/>
            <a:ext cx="2794000" cy="2794000"/>
          </a:xfrm>
          <a:prstGeom prst="ellipse">
            <a:avLst/>
          </a:prstGeom>
          <a:solidFill>
            <a:srgbClr val="FFFFFF">
              <a:alpha val="6000"/>
            </a:srgbClr>
          </a:solidFill>
          <a:ln cap="flat" cmpd="sng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1270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星座</a:t>
            </a:r>
            <a:r>
              <a:rPr lang="zh-CN" alt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chemeClr val="bg1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开源协作课程实践项目答辩</a:t>
            </a:r>
            <a:endParaRPr lang="en-US" sz="2400" b="0" i="0" u="none" strike="noStrike">
              <a:solidFill>
                <a:schemeClr val="bg1">
                  <a:alpha val="85098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89000" y="5080000"/>
            <a:ext cx="3302000" cy="1143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54483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52324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汇报团队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第17组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5080000"/>
            <a:ext cx="3302000" cy="1143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54483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52324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赵月伊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5080000"/>
            <a:ext cx="3302000" cy="11430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solidFill>
              <a:srgbClr val="D4AF3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54483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63000" y="5232400"/>
            <a:ext cx="2413000" cy="889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答辩日期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2026年7月24日</a:t>
            </a:r>
            <a:endParaRPr lang="en-US" sz="1100"/>
          </a:p>
        </p:txBody>
      </p:sp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906000" y="5334000"/>
            <a:ext cx="2794000" cy="2794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762000" y="-762000"/>
            <a:ext cx="2286000" cy="2286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148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952500" y="1841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841500" y="1803400"/>
            <a:ext cx="400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项目概述与需求分析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明确核心功能模块与用户需求边界，为系统开发奠定坚实的需求基础。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6286500" y="1651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148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477000" y="1841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7366000" y="1803400"/>
            <a:ext cx="400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GitHub开源协作流程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建立标准化的Issue追踪与PR评审机制，规范分支管理与版本发布流程，实现高效透明的开源协作模式。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762000" y="3238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148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952500" y="3429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841500" y="3390900"/>
            <a:ext cx="400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系统架构与模块设计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拆分独立的功能代码块，每个模块只完成单一任务，模块间关联简单，方便分开编写、单独调试修改。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6286500" y="3238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148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6477000" y="34290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7366000" y="3390900"/>
            <a:ext cx="400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测试、问题与解决方案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对程序分段、整体测试保证功能正常，梳理开发遇到的bug，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板块负责人寻找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对应的修复办法。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762000" y="4826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148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952500" y="5016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1841500" y="4978400"/>
            <a:ext cx="400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团队分工与时间规划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基于成员技术专长分配开发职责，制定分阶段的里程碑计划，明确关键节点与交付标准，确保进度可控。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>
            <p:custDataLst>
              <p:tags r:id="rId16"/>
            </p:custDataLst>
          </p:nvPr>
        </p:nvSpPr>
        <p:spPr>
          <a:xfrm>
            <a:off x="6286500" y="4826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148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7"/>
            </p:custDataLst>
          </p:nvPr>
        </p:nvSpPr>
        <p:spPr>
          <a:xfrm>
            <a:off x="6477000" y="5016500"/>
            <a:ext cx="76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8"/>
            </p:custDataLst>
          </p:nvPr>
        </p:nvSpPr>
        <p:spPr>
          <a:xfrm>
            <a:off x="7366000" y="4978400"/>
            <a:ext cx="4000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项目成果与总结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展示系统功能实现效果与核心指标，总结开发过程中的经验收获与团队成长，探讨项目的优化方向与未来展望。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4A148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4A148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项目概述与需求分析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0800" cy="16510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项目背景：打破数据孤岛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86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目前星座领域的公开资料呈现碎片化、非标准化状态，缺乏统一的结构化数据集。这导致开发者在构建相关应用时，往往需要重复进行基础数据的清洗与整理，极大地增加了开发成本，降低了迭代效率。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86500" y="1651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86500" y="1651000"/>
            <a:ext cx="50800" cy="16510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405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项目目标：构建标准化星座服务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2286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旨在打造一套高可用、结构化的星座信息数据库，并封装成易用的程序接口，实现“开箱即用”。帮助开发者快速集成星座查询、运势分析等功能，显著降低开发门槛，提升应用构建效率。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683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核心功能模块设计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254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148C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45847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3815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交互式输入与智能校验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支持控制台动态输入生日信息，系统自动校验日期格式、数值范围及逻辑合理性，从源头确保数据的准确性。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86500" y="4254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148C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45847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43815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精准的星座自动映射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基于高精度的日期区间匹配算法，将用户输入的生日快速关联至对应的星座，实现毫秒级的高效检索与匹配。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397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148C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7277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24000" y="55245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多维度运势与性格解析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深度解析并输出目标星座的核心性格特质、桃花运走势及财运分析，以结构化文本形式呈现丰富的运势内容。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286500" y="5397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148C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57277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048500" y="55245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全链路异常捕获与引导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针对非法字符、越界日期等异常场景进行捕获，输出友好的错误提示信息，并引导用户重新进行有效输入。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系统架构与模块设计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260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2603500" cy="508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032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0320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入口层 · main.py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9644">
            <a:off x="952518" y="2508250"/>
            <a:ext cx="222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52500" y="26670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系统总枢纽，负责程序启动、用户输入捕获与全局流程调度，串联各功能模块协同工作。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1778000"/>
            <a:ext cx="260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492500" y="1778000"/>
            <a:ext cx="2603500" cy="508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2032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64000" y="20320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逻辑层 · judge.py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9644">
            <a:off x="3683018" y="2508250"/>
            <a:ext cx="222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683000" y="26670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核心引擎，校验输入数据合法性，执行日期区间匹配算法，判定用户所属星座类型。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778000"/>
            <a:ext cx="260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1778000"/>
            <a:ext cx="2603500" cy="508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032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94500" y="20320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 · data.py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9644">
            <a:off x="6413518" y="2508250"/>
            <a:ext cx="222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13500" y="26670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提供结构化数据支持，存储12星座的日期范围、性格特质等基础常量，实现数据与逻辑。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953500" y="1778000"/>
            <a:ext cx="2603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953500" y="1778000"/>
            <a:ext cx="2603500" cy="508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20320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525000" y="20320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展示层 · show.py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9644">
            <a:off x="9144018" y="2508250"/>
            <a:ext cx="2222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144000" y="26670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负责结果的可视化渲染，将计算出的星座信息进行格式化排版，输出美观、易读的终端内容。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项目目录结构与规范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4699000"/>
            <a:ext cx="4826000" cy="1651000"/>
          </a:xfrm>
          <a:prstGeom prst="roundRect">
            <a:avLst>
              <a:gd name="adj" fmla="val 0"/>
            </a:avLst>
          </a:prstGeom>
          <a:solidFill>
            <a:srgbClr val="4A148C">
              <a:alpha val="4000"/>
            </a:srgbClr>
          </a:solidFill>
          <a:ln w="12700" cap="flat" cmpd="sng">
            <a:solidFill>
              <a:srgbClr val="4A148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52500" y="4762500"/>
            <a:ext cx="444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</a:pP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模块化分治</a:t>
            </a:r>
            <a:endParaRPr lang="zh-CN" alt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采用扁平化目录结构，严格遵循单一职责原则。核心功能拆分至独立模块，便于单元测试与功能扩展。配置与业务逻辑分离，文档与代码同步，符合现代Python项目开发标准。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5842000" y="4699000"/>
            <a:ext cx="5588000" cy="1651000"/>
          </a:xfrm>
          <a:prstGeom prst="roundRect">
            <a:avLst>
              <a:gd name="adj" fmla="val 0"/>
            </a:avLst>
          </a:prstGeom>
          <a:solidFill>
            <a:srgbClr val="2A0B5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032500" y="4851400"/>
            <a:ext cx="520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0E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project_root/
├── main.py # 程序入口与流程调度
├── judge.py # 星座匹配与校验逻辑
├── data.py # 星座数据常量定义
├── show.py # 结果格式化输出
├── README.md # 项目说明与使用文档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0E7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└── LICENSE # 开源协议声明</a:t>
            </a:r>
            <a:endParaRPr lang="en-US" sz="1300" b="0" i="0" u="none" strike="noStrike">
              <a:solidFill>
                <a:srgbClr val="E0E7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4A148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4A148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团队分工与时间规划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7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核心团队分工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222500"/>
            <a:ext cx="52705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222500"/>
            <a:ext cx="76200" cy="7366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90600" y="23114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赵月伊</a:t>
            </a:r>
            <a:r>
              <a:rPr lang="en-US" sz="1300" b="0" i="0" u="none" strike="noStrike">
                <a:solidFill>
                  <a:srgbClr val="9E9E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@6o6-end | 项目协调与版本集成(-test.py)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统筹整体进度，负责版本管理、测试统筹与问题闭环处理，保障项目按期交付。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022600"/>
            <a:ext cx="52705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022600"/>
            <a:ext cx="76200" cy="7366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90600" y="31115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吴睿轩</a:t>
            </a:r>
            <a:r>
              <a:rPr lang="en-US" sz="1300" b="0" i="0" u="none" strike="noStrike">
                <a:solidFill>
                  <a:srgbClr val="9E9E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@Wu-R-X | 前端页面开发 (show.py)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负责用户交互界面的设计与实现，优化视觉呈现与操作体验，对接后端数据接口。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822700"/>
            <a:ext cx="52705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3822700"/>
            <a:ext cx="76200" cy="7366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90600" y="39116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邹心宜</a:t>
            </a:r>
            <a:r>
              <a:rPr lang="en-US" sz="1300" b="0" i="0" u="none" strike="noStrike">
                <a:solidFill>
                  <a:srgbClr val="9E9E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@boom-931 | 数据处理模块 (data.py)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专注于数据清洗、结构化解析与持久化存储，构建稳定可靠的数据供给层。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622800"/>
            <a:ext cx="52705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4622800"/>
            <a:ext cx="76200" cy="7366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90600" y="47117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闫烁燃</a:t>
            </a:r>
            <a:r>
              <a:rPr lang="en-US" sz="1300" b="0" i="0" u="none" strike="noStrike">
                <a:solidFill>
                  <a:srgbClr val="9E9E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@yan5urou | 核心功能开发 (judge.py)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实现项目的核心业务逻辑与算法判断，确保功能准确性与处理效率。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422900"/>
            <a:ext cx="5270500" cy="7366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422900"/>
            <a:ext cx="76200" cy="7366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90600" y="55118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刘桐言</a:t>
            </a:r>
            <a:r>
              <a:rPr lang="en-US" sz="1300" b="0" i="0" u="none" strike="noStrike">
                <a:solidFill>
                  <a:srgbClr val="9E9E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@0427lty | 项目文档与主程 (main.py)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编写技术文档与使用说明，负责主程序入口整合与系统配置管理。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86500" y="1651000"/>
            <a:ext cx="539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关键开发里程碑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"/>
            </p:custDataLst>
          </p:nvPr>
        </p:nvSpPr>
        <p:spPr>
          <a:xfrm>
            <a:off x="6286500" y="2222500"/>
            <a:ext cx="1714500" cy="18415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"/>
            </p:custDataLst>
          </p:nvPr>
        </p:nvSpPr>
        <p:spPr>
          <a:xfrm>
            <a:off x="6286500" y="2222500"/>
            <a:ext cx="1714500" cy="381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>
            <p:custDataLst>
              <p:tags r:id="rId3"/>
            </p:custDataLst>
          </p:nvPr>
        </p:nvSpPr>
        <p:spPr>
          <a:xfrm>
            <a:off x="6413500" y="2387600"/>
            <a:ext cx="304800" cy="304800"/>
          </a:xfrm>
          <a:prstGeom prst="ellipse">
            <a:avLst/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4"/>
            </p:custDataLst>
          </p:nvPr>
        </p:nvSpPr>
        <p:spPr>
          <a:xfrm>
            <a:off x="6413500" y="2387600"/>
            <a:ext cx="304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5"/>
            </p:custDataLst>
          </p:nvPr>
        </p:nvSpPr>
        <p:spPr>
          <a:xfrm>
            <a:off x="6756400" y="23876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项目启动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6"/>
            </p:custDataLst>
          </p:nvPr>
        </p:nvSpPr>
        <p:spPr>
          <a:xfrm>
            <a:off x="6413500" y="2857500"/>
            <a:ext cx="146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明确目标与</a:t>
            </a:r>
            <a:r>
              <a:rPr lang="zh-CN" altLang="en-US" sz="1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板块需求</a:t>
            </a:r>
            <a:r>
              <a:rPr lang="en-US" sz="1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，完成</a:t>
            </a:r>
            <a:r>
              <a:rPr lang="zh-CN" altLang="en-US" sz="1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</a:t>
            </a:r>
            <a:r>
              <a:rPr lang="en-US" sz="1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分工，制定开发规范与协作流程。</a:t>
            </a:r>
            <a:endParaRPr lang="en-US" sz="1100"/>
          </a:p>
        </p:txBody>
      </p:sp>
      <p:sp>
        <p:nvSpPr>
          <p:cNvPr id="28" name="AutoShape 28"/>
          <p:cNvSpPr/>
          <p:nvPr>
            <p:custDataLst>
              <p:tags r:id="rId7"/>
            </p:custDataLst>
          </p:nvPr>
        </p:nvSpPr>
        <p:spPr>
          <a:xfrm>
            <a:off x="8102600" y="2222500"/>
            <a:ext cx="1714500" cy="18415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>
            <p:custDataLst>
              <p:tags r:id="rId8"/>
            </p:custDataLst>
          </p:nvPr>
        </p:nvSpPr>
        <p:spPr>
          <a:xfrm>
            <a:off x="8102600" y="2222500"/>
            <a:ext cx="1714500" cy="381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>
            <p:custDataLst>
              <p:tags r:id="rId9"/>
            </p:custDataLst>
          </p:nvPr>
        </p:nvSpPr>
        <p:spPr>
          <a:xfrm>
            <a:off x="8229600" y="2387600"/>
            <a:ext cx="304800" cy="304800"/>
          </a:xfrm>
          <a:prstGeom prst="ellipse">
            <a:avLst/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>
            <p:custDataLst>
              <p:tags r:id="rId10"/>
            </p:custDataLst>
          </p:nvPr>
        </p:nvSpPr>
        <p:spPr>
          <a:xfrm>
            <a:off x="8229600" y="2387600"/>
            <a:ext cx="304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32" name="AutoShape 32"/>
          <p:cNvSpPr/>
          <p:nvPr>
            <p:custDataLst>
              <p:tags r:id="rId11"/>
            </p:custDataLst>
          </p:nvPr>
        </p:nvSpPr>
        <p:spPr>
          <a:xfrm>
            <a:off x="8572500" y="23876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任务拆分</a:t>
            </a:r>
            <a:endParaRPr lang="en-US" sz="1100"/>
          </a:p>
        </p:txBody>
      </p:sp>
      <p:sp>
        <p:nvSpPr>
          <p:cNvPr id="33" name="AutoShape 33"/>
          <p:cNvSpPr/>
          <p:nvPr>
            <p:custDataLst>
              <p:tags r:id="rId12"/>
            </p:custDataLst>
          </p:nvPr>
        </p:nvSpPr>
        <p:spPr>
          <a:xfrm>
            <a:off x="8229600" y="2857500"/>
            <a:ext cx="146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拆解功能模块，创建Issue清单，明确各任务交付标准与时间节点。</a:t>
            </a:r>
            <a:endParaRPr lang="en-US" sz="1100"/>
          </a:p>
        </p:txBody>
      </p:sp>
      <p:sp>
        <p:nvSpPr>
          <p:cNvPr id="34" name="AutoShape 34"/>
          <p:cNvSpPr/>
          <p:nvPr>
            <p:custDataLst>
              <p:tags r:id="rId13"/>
            </p:custDataLst>
          </p:nvPr>
        </p:nvSpPr>
        <p:spPr>
          <a:xfrm>
            <a:off x="9918700" y="2222500"/>
            <a:ext cx="1714500" cy="18415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>
            <p:custDataLst>
              <p:tags r:id="rId14"/>
            </p:custDataLst>
          </p:nvPr>
        </p:nvSpPr>
        <p:spPr>
          <a:xfrm>
            <a:off x="9918700" y="2222500"/>
            <a:ext cx="1714500" cy="381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>
            <p:custDataLst>
              <p:tags r:id="rId15"/>
            </p:custDataLst>
          </p:nvPr>
        </p:nvSpPr>
        <p:spPr>
          <a:xfrm>
            <a:off x="10045700" y="2387600"/>
            <a:ext cx="304800" cy="304800"/>
          </a:xfrm>
          <a:prstGeom prst="ellipse">
            <a:avLst/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>
            <p:custDataLst>
              <p:tags r:id="rId16"/>
            </p:custDataLst>
          </p:nvPr>
        </p:nvSpPr>
        <p:spPr>
          <a:xfrm>
            <a:off x="10045700" y="2387600"/>
            <a:ext cx="304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38" name="AutoShape 38"/>
          <p:cNvSpPr/>
          <p:nvPr>
            <p:custDataLst>
              <p:tags r:id="rId17"/>
            </p:custDataLst>
          </p:nvPr>
        </p:nvSpPr>
        <p:spPr>
          <a:xfrm>
            <a:off x="10388600" y="23876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并行开发</a:t>
            </a:r>
            <a:endParaRPr lang="en-US" sz="1100"/>
          </a:p>
        </p:txBody>
      </p:sp>
      <p:sp>
        <p:nvSpPr>
          <p:cNvPr id="39" name="AutoShape 39"/>
          <p:cNvSpPr/>
          <p:nvPr>
            <p:custDataLst>
              <p:tags r:id="rId18"/>
            </p:custDataLst>
          </p:nvPr>
        </p:nvSpPr>
        <p:spPr>
          <a:xfrm>
            <a:off x="10045700" y="2857500"/>
            <a:ext cx="146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各成员在独立分支开发，每日同步进度，解决技术依赖与阻塞。</a:t>
            </a:r>
            <a:endParaRPr lang="en-US" sz="1100"/>
          </a:p>
        </p:txBody>
      </p:sp>
      <p:sp>
        <p:nvSpPr>
          <p:cNvPr id="40" name="AutoShape 40"/>
          <p:cNvSpPr/>
          <p:nvPr>
            <p:custDataLst>
              <p:tags r:id="rId19"/>
            </p:custDataLst>
          </p:nvPr>
        </p:nvSpPr>
        <p:spPr>
          <a:xfrm>
            <a:off x="6286500" y="4191000"/>
            <a:ext cx="1714500" cy="18415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>
            <p:custDataLst>
              <p:tags r:id="rId20"/>
            </p:custDataLst>
          </p:nvPr>
        </p:nvSpPr>
        <p:spPr>
          <a:xfrm>
            <a:off x="6286500" y="4191000"/>
            <a:ext cx="1714500" cy="381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>
            <p:custDataLst>
              <p:tags r:id="rId21"/>
            </p:custDataLst>
          </p:nvPr>
        </p:nvSpPr>
        <p:spPr>
          <a:xfrm>
            <a:off x="6413500" y="4356100"/>
            <a:ext cx="304800" cy="304800"/>
          </a:xfrm>
          <a:prstGeom prst="ellipse">
            <a:avLst/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>
            <p:custDataLst>
              <p:tags r:id="rId22"/>
            </p:custDataLst>
          </p:nvPr>
        </p:nvSpPr>
        <p:spPr>
          <a:xfrm>
            <a:off x="6413500" y="4356100"/>
            <a:ext cx="304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44" name="AutoShape 44"/>
          <p:cNvSpPr/>
          <p:nvPr>
            <p:custDataLst>
              <p:tags r:id="rId23"/>
            </p:custDataLst>
          </p:nvPr>
        </p:nvSpPr>
        <p:spPr>
          <a:xfrm>
            <a:off x="6756400" y="43561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评审集成</a:t>
            </a:r>
            <a:endParaRPr lang="en-US" sz="1100"/>
          </a:p>
        </p:txBody>
      </p:sp>
      <p:sp>
        <p:nvSpPr>
          <p:cNvPr id="45" name="AutoShape 45"/>
          <p:cNvSpPr/>
          <p:nvPr>
            <p:custDataLst>
              <p:tags r:id="rId24"/>
            </p:custDataLst>
          </p:nvPr>
        </p:nvSpPr>
        <p:spPr>
          <a:xfrm>
            <a:off x="6413500" y="4826000"/>
            <a:ext cx="146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提交PR进行代码审查，修复反馈问题，确保代码质量后合并主干。</a:t>
            </a:r>
            <a:endParaRPr lang="en-US" sz="1100"/>
          </a:p>
        </p:txBody>
      </p:sp>
      <p:sp>
        <p:nvSpPr>
          <p:cNvPr id="46" name="AutoShape 46"/>
          <p:cNvSpPr/>
          <p:nvPr>
            <p:custDataLst>
              <p:tags r:id="rId25"/>
            </p:custDataLst>
          </p:nvPr>
        </p:nvSpPr>
        <p:spPr>
          <a:xfrm>
            <a:off x="8102600" y="4191000"/>
            <a:ext cx="1714500" cy="18415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>
            <p:custDataLst>
              <p:tags r:id="rId26"/>
            </p:custDataLst>
          </p:nvPr>
        </p:nvSpPr>
        <p:spPr>
          <a:xfrm>
            <a:off x="8102600" y="4191000"/>
            <a:ext cx="1714500" cy="381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>
            <p:custDataLst>
              <p:tags r:id="rId27"/>
            </p:custDataLst>
          </p:nvPr>
        </p:nvSpPr>
        <p:spPr>
          <a:xfrm>
            <a:off x="8229600" y="4356100"/>
            <a:ext cx="304800" cy="304800"/>
          </a:xfrm>
          <a:prstGeom prst="ellipse">
            <a:avLst/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49"/>
          <p:cNvSpPr/>
          <p:nvPr>
            <p:custDataLst>
              <p:tags r:id="rId28"/>
            </p:custDataLst>
          </p:nvPr>
        </p:nvSpPr>
        <p:spPr>
          <a:xfrm>
            <a:off x="8229600" y="4356100"/>
            <a:ext cx="304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50" name="AutoShape 50"/>
          <p:cNvSpPr/>
          <p:nvPr>
            <p:custDataLst>
              <p:tags r:id="rId29"/>
            </p:custDataLst>
          </p:nvPr>
        </p:nvSpPr>
        <p:spPr>
          <a:xfrm>
            <a:off x="8572500" y="43561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测试联调</a:t>
            </a:r>
            <a:endParaRPr lang="en-US" sz="1100"/>
          </a:p>
        </p:txBody>
      </p:sp>
      <p:sp>
        <p:nvSpPr>
          <p:cNvPr id="51" name="AutoShape 51"/>
          <p:cNvSpPr/>
          <p:nvPr>
            <p:custDataLst>
              <p:tags r:id="rId30"/>
            </p:custDataLst>
          </p:nvPr>
        </p:nvSpPr>
        <p:spPr>
          <a:xfrm>
            <a:off x="8229600" y="4826000"/>
            <a:ext cx="146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全链路功能测试与系统联调，修复集成Bug，验证数据流转正确性。</a:t>
            </a:r>
            <a:endParaRPr lang="en-US" sz="1100"/>
          </a:p>
        </p:txBody>
      </p:sp>
      <p:sp>
        <p:nvSpPr>
          <p:cNvPr id="52" name="AutoShape 52"/>
          <p:cNvSpPr/>
          <p:nvPr>
            <p:custDataLst>
              <p:tags r:id="rId31"/>
            </p:custDataLst>
          </p:nvPr>
        </p:nvSpPr>
        <p:spPr>
          <a:xfrm>
            <a:off x="9918700" y="4191000"/>
            <a:ext cx="1714500" cy="18415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AutoShape 53"/>
          <p:cNvSpPr/>
          <p:nvPr>
            <p:custDataLst>
              <p:tags r:id="rId32"/>
            </p:custDataLst>
          </p:nvPr>
        </p:nvSpPr>
        <p:spPr>
          <a:xfrm>
            <a:off x="9918700" y="4191000"/>
            <a:ext cx="1714500" cy="381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AutoShape 54"/>
          <p:cNvSpPr/>
          <p:nvPr>
            <p:custDataLst>
              <p:tags r:id="rId33"/>
            </p:custDataLst>
          </p:nvPr>
        </p:nvSpPr>
        <p:spPr>
          <a:xfrm>
            <a:off x="10045700" y="4356100"/>
            <a:ext cx="304800" cy="304800"/>
          </a:xfrm>
          <a:prstGeom prst="ellipse">
            <a:avLst/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AutoShape 55"/>
          <p:cNvSpPr/>
          <p:nvPr>
            <p:custDataLst>
              <p:tags r:id="rId34"/>
            </p:custDataLst>
          </p:nvPr>
        </p:nvSpPr>
        <p:spPr>
          <a:xfrm>
            <a:off x="10045700" y="4356100"/>
            <a:ext cx="304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56" name="AutoShape 56"/>
          <p:cNvSpPr/>
          <p:nvPr>
            <p:custDataLst>
              <p:tags r:id="rId35"/>
            </p:custDataLst>
          </p:nvPr>
        </p:nvSpPr>
        <p:spPr>
          <a:xfrm>
            <a:off x="10388600" y="43561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版本发布</a:t>
            </a:r>
            <a:endParaRPr lang="en-US" sz="1100"/>
          </a:p>
        </p:txBody>
      </p:sp>
      <p:sp>
        <p:nvSpPr>
          <p:cNvPr id="57" name="AutoShape 57"/>
          <p:cNvSpPr/>
          <p:nvPr>
            <p:custDataLst>
              <p:tags r:id="rId36"/>
            </p:custDataLst>
          </p:nvPr>
        </p:nvSpPr>
        <p:spPr>
          <a:xfrm>
            <a:off x="10045700" y="4826000"/>
            <a:ext cx="146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生成版本Tag与Release包，编写发布说明，完成最终上线交付。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016000"/>
            <a:ext cx="3175000" cy="3175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334000"/>
            <a:ext cx="2540000" cy="2540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GitHub协作流程：任务拆分与Issue管理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2095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98600" y="2095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创建组织仓库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41400" y="26035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搭建标准化的项目代码仓库，配置完善的读写与管理权限体系，为团队协作建立统一的代码资产基座，保障项目安全与规范。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1905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942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3600" y="2095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30800" y="2095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拆解任务 (Issue)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73600" y="26035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将整体项目目标拆解为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大小合适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的独立Issue，清晰定义每个任务的业务目标、技术范围与交付节点，实现需求的模块化管理。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26400" y="1905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0264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095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63000" y="2095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指派与验收定责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05800" y="26035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为每个Issue设定明确的验收标准（DoD），指定专属负责人并打上优先级标签，确保任务责任到人，进度与质量可控。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2545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1400" y="4445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498600" y="444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目标清晰，减少偏差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41400" y="49530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通过结构化的Issue描述替代低效的口头沟通，让每位成员精准理解需求，避免因信息不对称导致的开发返工与误解。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394200" y="42545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73600" y="44450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5130800" y="444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全程可溯，便于复盘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673600" y="49530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所有讨论、代码提交与反馈意见实时沉淀，形成完整的项目协作日志，为后续的项目复盘、质量审计提供可靠依据。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026400" y="42545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05800" y="44450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763000" y="444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权责分明，高效闭环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305800" y="4953000"/>
            <a:ext cx="2971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任务绑定具体负责人，杜绝推诿扯皮；多人协作标签功能确保问题被及时响应，推动开发任务快速闭环与交付。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GitHub协作流程：分支开发与PR评审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2032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905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397000" y="19558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分支开发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889000" y="2476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main 分支创建独立功能分支，实现任务隔离，避免直接污染主干代码。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2921000" y="1651000"/>
            <a:ext cx="2032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2921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11500" y="1905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3556000" y="19558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创建PR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3048000" y="2476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功能自测通过后，发起合并请求，详细描述改动点、用途及测试覆盖情况。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5080000" y="1651000"/>
            <a:ext cx="2032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5080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70500" y="1905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5715000" y="19558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代码评审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1"/>
            </p:custDataLst>
          </p:nvPr>
        </p:nvSpPr>
        <p:spPr>
          <a:xfrm>
            <a:off x="5207000" y="2476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组长审查代码逻辑、编码规范、性能及安全性，确保符合团队工程标准。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7239000" y="1651000"/>
            <a:ext cx="2032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23"/>
            </p:custDataLst>
          </p:nvPr>
        </p:nvSpPr>
        <p:spPr>
          <a:xfrm>
            <a:off x="7239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429500" y="1905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7874000" y="19558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反馈修改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28"/>
            </p:custDataLst>
          </p:nvPr>
        </p:nvSpPr>
        <p:spPr>
          <a:xfrm>
            <a:off x="7366000" y="2476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针对评审意见进行代码迭代与修复，修改后重新推送，直至满足质量要求。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29"/>
            </p:custDataLst>
          </p:nvPr>
        </p:nvSpPr>
        <p:spPr>
          <a:xfrm>
            <a:off x="9398000" y="1651000"/>
            <a:ext cx="2032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>
            <p:custDataLst>
              <p:tags r:id="rId30"/>
            </p:custDataLst>
          </p:nvPr>
        </p:nvSpPr>
        <p:spPr>
          <a:xfrm>
            <a:off x="9398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588500" y="19050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>
            <p:custDataLst>
              <p:tags r:id="rId34"/>
            </p:custDataLst>
          </p:nvPr>
        </p:nvSpPr>
        <p:spPr>
          <a:xfrm>
            <a:off x="10033000" y="19558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合并上线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35"/>
            </p:custDataLst>
          </p:nvPr>
        </p:nvSpPr>
        <p:spPr>
          <a:xfrm>
            <a:off x="9525000" y="2476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审核通过后自动合并至主干，触发CI/CD流水线，完成功能的自动部署。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真实案例：一次典型的PR质量拦截与闭环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2000" y="47625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4A148C">
              <a:alpha val="5000"/>
            </a:srgbClr>
          </a:solidFill>
          <a:ln w="12700" cap="flat" cmpd="sng">
            <a:solidFill>
              <a:srgbClr val="4A148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52500" y="48895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问题场景：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在处理 Issue #13 时，评审发现核心文件 `judge.py` 存在缩进错误及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空值判断遗漏</a:t>
            </a:r>
            <a:r>
              <a:rPr lang="zh-CN" alt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和错误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通过PR内的即时对话机制，开发者在1小时内完成修复并重新提交，最终顺利通过审核，有效拦截了潜在的线上运行时异常，保障了主干代码的稳定性。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223000" y="47625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2D37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6413500" y="49530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6794500" y="49530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Tech Lead [组长]</a:t>
            </a:r>
            <a:r>
              <a:rPr lang="en-US" sz="1300" b="0" i="0" u="none" strike="noStrike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requested changes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9046">
            <a:off x="6413508" y="53530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6413500" y="54356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@Dev 请注意：第45行存在缩进异常，这会导致条件分支失效。此外，入参 `data` 未做空值校验，建议补充 `if not data: return False` 以增强鲁棒性。请修复后标记为 ready-for-review。</a:t>
            </a:r>
            <a:endParaRPr lang="en-US" sz="1100"/>
          </a:p>
        </p:txBody>
      </p:sp>
      <p:pic>
        <p:nvPicPr>
          <p:cNvPr id="40" name="图片 39" descr="judge测试问题所在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733550" y="809625"/>
            <a:ext cx="8724900" cy="2809875"/>
          </a:xfrm>
          <a:prstGeom prst="rect">
            <a:avLst/>
          </a:prstGeom>
        </p:spPr>
      </p:pic>
      <p:pic>
        <p:nvPicPr>
          <p:cNvPr id="42" name="图片 41" descr="judge报错显示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286125" y="0"/>
            <a:ext cx="5619115" cy="6858000"/>
          </a:xfrm>
          <a:prstGeom prst="rect">
            <a:avLst/>
          </a:prstGeom>
        </p:spPr>
      </p:pic>
      <p:pic>
        <p:nvPicPr>
          <p:cNvPr id="41" name="图片 40" descr="judge报错评论并打回 - 副本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53440" y="0"/>
            <a:ext cx="1048448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GitHub协作流程：版本发布 Release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▍版本发布核心流程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4A148C">
              <a:alpha val="5000"/>
            </a:srgbClr>
          </a:solidFill>
          <a:ln w="12700" cap="flat" cmpd="sng">
            <a:solidFill>
              <a:srgbClr val="4A148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476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4765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完成开发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9464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功能开发完毕并合并至 `main` 分支，通过测试与代码审查，确保主干代码稳定无虞。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67100" y="2286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4A148C">
              <a:alpha val="5000"/>
            </a:srgbClr>
          </a:solidFill>
          <a:ln w="12700" cap="flat" cmpd="sng">
            <a:solidFill>
              <a:srgbClr val="4A148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2476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038600" y="24765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创建版本Tag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57600" y="29464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基于主干创建语义化标签（如 v1.0.0），作为版本的唯一身份标识，永久锚定当前代码状态。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2286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4A148C">
              <a:alpha val="5000"/>
            </a:srgbClr>
          </a:solidFill>
          <a:ln w="12700" cap="flat" cmpd="sng">
            <a:solidFill>
              <a:srgbClr val="4A148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2700" y="2476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43700" y="24765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编写变更说明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62700" y="29464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梳理新增特性、Bug 修复与优化项，撰写清晰的 Release Notes，同步告知团队与用户。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77300" y="2286000"/>
            <a:ext cx="2540000" cy="1905000"/>
          </a:xfrm>
          <a:prstGeom prst="roundRect">
            <a:avLst>
              <a:gd name="adj" fmla="val 0"/>
            </a:avLst>
          </a:prstGeom>
          <a:solidFill>
            <a:srgbClr val="4A148C">
              <a:alpha val="5000"/>
            </a:srgbClr>
          </a:solidFill>
          <a:ln w="12700" cap="flat" cmpd="sng">
            <a:solidFill>
              <a:srgbClr val="4A148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67800" y="2476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448800" y="24765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发布正式版本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67800" y="29464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Tag 生成正式 Release，自动归档源码包与二进制文件，提供下载入口，完成交付。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508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▍为什么要规范 Release 流程？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080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5080000"/>
            <a:ext cx="50800" cy="13970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00" y="5232400"/>
            <a:ext cx="279400" cy="279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371600" y="5232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里程碑式版本归档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90600" y="5613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为项目建立不可篡改的历史快照，不仅是代码的封存，更是项目迭代的历史见证，便于回溯与审计。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381500" y="5080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4381500" y="5080000"/>
            <a:ext cx="50800" cy="13970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10100" y="5232400"/>
            <a:ext cx="279400" cy="279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4991100" y="5232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标准化的交付载体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610100" y="5613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提供可直接下载的交付物，降低用户获取门槛；同时明确了“完成”的标准，让团队交付更有仪式感。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001000" y="5080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8001000" y="5080000"/>
            <a:ext cx="50800" cy="13970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29600" y="5232400"/>
            <a:ext cx="279400" cy="2794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8610600" y="5232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透明的变更沟通机制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229600" y="56134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Release Notes 作为权威变更日志，让团队快速对齐进度，也让用户清晰了解版本价值，减少沟通成本。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4A148C">
              <a:alpha val="5000"/>
            </a:srgbClr>
          </a:solidFill>
          <a:ln cap="flat" cmpd="sng">
            <a:solidFill>
              <a:srgbClr val="360573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4A148C">
              <a:alpha val="5000"/>
            </a:srgbClr>
          </a:solidFill>
          <a:ln cap="flat" cmpd="sng">
            <a:solidFill>
              <a:srgbClr val="360573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测试与问题解决：测试方案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多维测试策略与环境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4A148C">
              <a:alpha val="5000"/>
            </a:srgbClr>
          </a:solidFill>
          <a:ln cap="flat" cmpd="sng">
            <a:solidFill>
              <a:srgbClr val="360573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667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035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标准化开发调试环境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VS Code 搭建统一环境，支持实时断点调试与代码追踪，为快速定位问题、高效排查故障提供坚实的工具支撑。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746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4A148C">
              <a:alpha val="5000"/>
            </a:srgbClr>
          </a:solidFill>
          <a:ln cap="flat" cmpd="sng">
            <a:solidFill>
              <a:srgbClr val="360573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8735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分模块单元自测机制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开发者独立运行负责模块，针对核心函数与数据处理逻辑进行单模块验证，提前拦截基础语法与逻辑错误，从源头降低整体联调风险。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4A148C">
              <a:alpha val="5000"/>
            </a:srgbClr>
          </a:solidFill>
          <a:ln cap="flat" cmpd="sng">
            <a:solidFill>
              <a:srgbClr val="360573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207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全链路整体联调测试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模块合并后输入多组场景化用例，验证数据流转、接口调用与系统功能完整性，重点校验各组件协同逻辑，确保系统稳定运行。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核心测试用例覆盖场景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2476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4A148C">
              <a:alpha val="8000"/>
            </a:srgbClr>
          </a:solidFill>
          <a:ln cap="flat" cmpd="sng">
            <a:solidFill>
              <a:srgbClr val="360573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2667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2603500"/>
            <a:ext cx="438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常规场景：合法日期匹配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输入标准格式日期（如“3月21日”），验证星座匹配算法的准确性，确保非临界日期下的结果输出完全符合星座区间定义规则。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3746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4A148C">
              <a:alpha val="8000"/>
            </a:srgbClr>
          </a:solidFill>
          <a:ln cap="flat" cmpd="sng">
            <a:solidFill>
              <a:srgbClr val="360573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3937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3873500"/>
            <a:ext cx="438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边界场景：临界值精准校验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针对星座分界点日期（如“12月21日”）进行多轮交叉验证，重点排查临界日期的归属逻辑，避免因区间边界划分导致的匹配错误。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50000" y="508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4A148C">
              <a:alpha val="8000"/>
            </a:srgbClr>
          </a:solidFill>
          <a:ln cap="flat" cmpd="sng">
            <a:solidFill>
              <a:srgbClr val="360573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5270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5207000"/>
            <a:ext cx="438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异常场景：容错与反馈机制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输入非法格式（如“13月32日”、非数字字符），验证系统的异常捕获与错误处理能力，确保程序不崩溃且返回友好的提示信息。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测试与问题解决：主要技术问题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76200" cy="34290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2032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74800" y="203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模块间数据字段命名不统一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92200" y="2667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问题现象：跨模块联调数据异常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92200" y="3048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首次联调时，`show.py` 读取 `data.py` 数据因关键字段命名冲突（如 'love' 与 '桃花'），触发数据缺失报错，直接阻断了核心功能的正常渲染与加载。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444">
            <a:off x="1092209" y="39941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1092200" y="4127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解决方案：规范统一与逻辑修正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92200" y="4508500"/>
            <a:ext cx="457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团队拉齐并制定统一的《接口字段命名规范》，完成全量代码的字段映射修正；在数据交互层增加兼容性校验逻辑，确保跨模块数据传输的一致性，彻底规避命名冲突问题。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86500" y="1778000"/>
            <a:ext cx="52705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86500" y="1778000"/>
            <a:ext cx="76200" cy="34290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6700" y="2032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99300" y="203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judge.py 输入校验逻辑缺陷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16700" y="2667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问题现象：非法输入致程序崩溃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16700" y="3048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当用户输入非数字字符时，核心模块未做前置校验与异常捕获，直接触发类型错误并导致程序终止，无法实现优雅的错误提示与流程容错，影响系统稳定性。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444">
            <a:off x="6616709" y="39941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616700" y="4127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解决方案：异常捕获与鲁棒性优化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16700" y="4508500"/>
            <a:ext cx="457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根据代码评审反馈修复条件判断语法漏洞；新增多维度输入校验层，结合 try-except 异常处理机制对非法输入进行拦截，返回标准化的友好提示，保障系统高可用。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524500"/>
            <a:ext cx="10795000" cy="8255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12700" cap="flat" cmpd="sng">
            <a:solidFill>
              <a:srgbClr val="4A148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1016000" y="56896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复盘启示：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技术问题的快速解决验证了「代码评审 + 规范先行」模式的有效性。我们已将相关避坑经验沉淀为团队技术文档，完善了开发与联调的Checklist，为后续版本的高质量迭代筑牢基础。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4445000"/>
            <a:ext cx="3810000" cy="3810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-1016000"/>
            <a:ext cx="3175000" cy="3175000"/>
          </a:xfrm>
          <a:prstGeom prst="ellipse">
            <a:avLst/>
          </a:prstGeom>
          <a:solidFill>
            <a:srgbClr val="4A148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项目成果与总结：成果展示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33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核心功能落地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349500"/>
            <a:ext cx="5334000" cy="863600"/>
          </a:xfrm>
          <a:prstGeom prst="roundRect">
            <a:avLst>
              <a:gd name="adj" fmla="val 0"/>
            </a:avLst>
          </a:prstGeom>
          <a:solidFill>
            <a:srgbClr val="4A148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5654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438400"/>
            <a:ext cx="450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智能星座匹配引擎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基于精准日期区间算法，输入生日即可毫秒级匹配对应星座，支持多格式日期的智能兼容解析。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340100"/>
            <a:ext cx="5334000" cy="863600"/>
          </a:xfrm>
          <a:prstGeom prst="roundRect">
            <a:avLst>
              <a:gd name="adj" fmla="val 0"/>
            </a:avLst>
          </a:prstGeom>
          <a:solidFill>
            <a:srgbClr val="4A148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556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429000"/>
            <a:ext cx="450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多维运势深度解析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覆盖性格特质、桃花运趋势及财运走向三大核心维度，输出场景化、个性化的运势解读报告。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330700"/>
            <a:ext cx="5334000" cy="863600"/>
          </a:xfrm>
          <a:prstGeom prst="roundRect">
            <a:avLst>
              <a:gd name="adj" fmla="val 0"/>
            </a:avLst>
          </a:prstGeom>
          <a:solidFill>
            <a:srgbClr val="4A148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5466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4419600"/>
            <a:ext cx="450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鲁棒性异常处理机制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针对非法日期、空值及特殊字符等异常输入，提供人性化错误提示与引导，保障程序稳定运行。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12700" cap="flat" cmpd="sng">
            <a:solidFill>
              <a:srgbClr val="4A148C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55118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95400" y="5486400"/>
            <a:ext cx="196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 README 文档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涵盖部署流程、环境配置、使用教程与功能演示，大幅降低上手与维护成本。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492500" y="53340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12700" cap="flat" cmpd="sng">
            <a:solidFill>
              <a:srgbClr val="4A148C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44900" y="55118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025900" y="5486400"/>
            <a:ext cx="196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开源协议 LICENSE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MIT 宽松开源协议，明确版权归属，支持自由分发、商用及二次开发。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604000" y="2032000"/>
            <a:ext cx="4826000" cy="406400"/>
          </a:xfrm>
          <a:prstGeom prst="roundRect">
            <a:avLst>
              <a:gd name="adj" fmla="val 0"/>
            </a:avLst>
          </a:prstGeom>
          <a:solidFill>
            <a:srgbClr val="44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756400" y="2171700"/>
            <a:ext cx="152400" cy="1524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985000" y="2171700"/>
            <a:ext cx="152400" cy="1524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213600" y="2171700"/>
            <a:ext cx="152400" cy="152400"/>
          </a:xfrm>
          <a:prstGeom prst="ellipse">
            <a:avLst/>
          </a:prstGeom>
          <a:solidFill>
            <a:srgbClr val="27CA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04000" y="2438400"/>
            <a:ext cx="4826000" cy="2984500"/>
          </a:xfrm>
          <a:prstGeom prst="roundRect">
            <a:avLst>
              <a:gd name="adj" fmla="val 0"/>
            </a:avLst>
          </a:prstGeom>
          <a:solidFill>
            <a:srgbClr val="1E1E1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731000" y="2565400"/>
            <a:ext cx="4572000" cy="273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00DC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&gt; python main.py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欢迎使用「星途」运势分析助手 🌟</a:t>
            </a:r>
            <a:endParaRPr lang="en-US" sz="1300" b="0" i="0" u="none" strike="noStrike">
              <a:solidFill>
                <a:srgbClr val="DCDCD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A5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请输入您的生日（格式：MM-DD）：05-20</a:t>
            </a:r>
            <a:endParaRPr lang="en-US" sz="1300" b="0" i="0" u="none" strike="noStrike">
              <a:solidFill>
                <a:srgbClr val="FFA5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8787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──────────────────────────────</a:t>
            </a:r>
            <a:endParaRPr lang="en-US" sz="1300" b="0" i="0" u="none" strike="noStrike">
              <a:solidFill>
                <a:srgbClr val="78787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[RESULT] 您的星座：金牛座 (Taurus)</a:t>
            </a:r>
            <a:endParaRPr lang="en-US" sz="1300" b="0" i="0" u="none" strike="noStrike">
              <a:solidFill>
                <a:srgbClr val="61AFE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8F8F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[性格] 稳重务实，极具耐心与责任感，天生具备理财天赋。</a:t>
            </a:r>
            <a:endParaRPr lang="en-US" sz="1300" b="0" i="0" u="none" strike="noStrike">
              <a:solidFill>
                <a:srgbClr val="F8F8F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79C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[桃花] 本周社交运佳，易在兴趣社群中邂逅志同道合的伙伴。</a:t>
            </a:r>
            <a:endParaRPr lang="en-US" sz="1300" b="0" i="0" u="none" strike="noStrike">
              <a:solidFill>
                <a:srgbClr val="FF79C6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B86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[财运] 正财运稳步上升，适合稳健型储蓄，避免冲动消费。</a:t>
            </a:r>
            <a:endParaRPr lang="en-US" sz="1300" b="0" i="0" u="none" strike="noStrike">
              <a:solidFill>
                <a:srgbClr val="FFB86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604000" y="55245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系统采用轻量化控制台交互设计，输出层级分明，不仅实现了功能闭环，更兼顾了清晰的视觉反馈与流畅的用户体验。</a:t>
            </a:r>
            <a:endParaRPr lang="en-US" sz="1100"/>
          </a:p>
        </p:txBody>
      </p:sp>
      <p:pic>
        <p:nvPicPr>
          <p:cNvPr id="29" name="图片 28" descr="联调测试成功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1400" y="2045335"/>
            <a:ext cx="6096000" cy="3377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项目成果与总结：实践收获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159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74800" y="21590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技术能力进阶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496">
            <a:off x="1066809" y="27876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66800" y="29845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模块化开发思维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掌握将复杂系统拆解为高内聚、低耦合模块的方法，通过标准化接口实现组件协作，显著提升了代码的复用性与可维护性。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66800" y="38735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Python 核心深化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深入理解Python高级语法、数据结构优化及异常处理机制，能够运用更简洁高效的逻辑解决实际业务场景中的复杂计算问题。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66800" y="48895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调试与排障实战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积累了丰富的代码调试与Bug定位经验，熟练运用日志分析与调试工具，快速响应并解决开发过程中的各类技术阻碍。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2159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035800" y="2159000"/>
            <a:ext cx="381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团队协作沉淀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496">
            <a:off x="6527809" y="27876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527800" y="29845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标准化开源协作流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完整实践了GitHub协作规范，涵盖Issue追踪、分支管理、Pull Request提交及Code Review全流程，熟悉现代软件工程的协作范式。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27800" y="38735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高效沟通与反馈机制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学会利用代码评审进行精准的技术沟通与知识同步，理解了反馈对提升代码质量、减少潜在Bug及团队成长的关键作用。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27800" y="4889500"/>
            <a:ext cx="45974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协同攻坚的团队精神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深刻体会到分工协作与优势互补的力量，在面对技术难点时，通过集体讨论与互助攻克难题，形成了紧密协作的团队氛围。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4A148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项目成果与总结：项目反思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148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413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统一规范，规避风险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105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302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项目初期因字段命名不统一导致联调受阻，这让我们深刻意识到：在启动阶段制定并严格遵守编码与接口规范，是从源头规避集成风险、减少返工与沟通成本、提升整体开发效率的核心前提。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148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413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43500" y="2413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代码审查，严控质量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3105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3302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Code Review 是保障代码质量的关键防线。它能在代码合并前识别逻辑缺陷与性能隐患，避免问题流入主干。同时，这一过程也是团队技术交流的桥梁，能有效统一代码风格，提升团队整体技术水平与工程素养。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4A148C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01000" y="2032000"/>
            <a:ext cx="3429000" cy="76200"/>
          </a:xfrm>
          <a:prstGeom prst="roundRect">
            <a:avLst>
              <a:gd name="adj" fmla="val 0"/>
            </a:avLst>
          </a:prstGeom>
          <a:solidFill>
            <a:srgbClr val="4A1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413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763000" y="2413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任务清晰，高效协同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255014" y="3105150"/>
            <a:ext cx="292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55000" y="3302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1616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的任务定义是高效协作的基石。通过创建包含明确验收标准（AC）的任务，团队成员能对目标达成共识，减少沟通成本。这不仅支持成员独立并行开发，也让进度评估、质量验收变得客观、可量化，大幅提升了团队的协作效率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905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4A148C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89000" y="60325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经验沉淀：</a:t>
            </a:r>
            <a:r>
              <a:rPr lang="en-US" sz="1400" b="0" i="0" u="none" strike="noStrike">
                <a:solidFill>
                  <a:srgbClr val="42424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将统一规范、强制代码审查与标准化任务定义纳入研发流程规范，将有效降低沟通成本，提升交付质量，为后续项目的高效推进奠定坚实基础。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2000" y="-762000"/>
            <a:ext cx="2540000" cy="2540000"/>
          </a:xfrm>
          <a:prstGeom prst="ellipse">
            <a:avLst/>
          </a:prstGeom>
          <a:solidFill>
            <a:srgbClr val="7B1FA2">
              <a:alpha val="30000"/>
            </a:srgbClr>
          </a:solidFill>
          <a:ln cap="flat" cmpd="sng">
            <a:solidFill>
              <a:srgbClr val="640C8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0" y="4572000"/>
            <a:ext cx="3556000" cy="3556000"/>
          </a:xfrm>
          <a:prstGeom prst="ellipse">
            <a:avLst/>
          </a:prstGeom>
          <a:solidFill>
            <a:srgbClr val="EAB308">
              <a:alpha val="12000"/>
            </a:srgbClr>
          </a:solidFill>
          <a:ln cap="flat" cmpd="sng">
            <a:solidFill>
              <a:srgbClr val="D19E00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776980" y="1254125"/>
            <a:ext cx="4826000" cy="4826000"/>
          </a:xfrm>
          <a:prstGeom prst="ellipse">
            <a:avLst/>
          </a:prstGeom>
          <a:solidFill>
            <a:srgbClr val="EAB308">
              <a:alpha val="15000"/>
            </a:srgbClr>
          </a:solidFill>
          <a:ln cap="flat" cmpd="sng">
            <a:solidFill>
              <a:srgbClr val="D19E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6995" y="113538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431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grpSp>
        <p:nvGrpSpPr>
          <p:cNvPr id="9" name="组合 8" descr="7b0a202020202274657874626f78223a2022220a7d0a"/>
          <p:cNvGrpSpPr/>
          <p:nvPr/>
        </p:nvGrpSpPr>
        <p:grpSpPr>
          <a:xfrm>
            <a:off x="3318150" y="469265"/>
            <a:ext cx="5382979" cy="2496821"/>
            <a:chOff x="3067050" y="2067877"/>
            <a:chExt cx="6057900" cy="2809874"/>
          </a:xfrm>
        </p:grpSpPr>
        <p:grpSp>
          <p:nvGrpSpPr>
            <p:cNvPr id="10" name="组合 9"/>
            <p:cNvGrpSpPr/>
            <p:nvPr/>
          </p:nvGrpSpPr>
          <p:grpSpPr>
            <a:xfrm>
              <a:off x="3067050" y="2067877"/>
              <a:ext cx="6057900" cy="2809874"/>
              <a:chOff x="3067050" y="2067877"/>
              <a:chExt cx="6057900" cy="2809874"/>
            </a:xfrm>
          </p:grpSpPr>
          <p:sp>
            <p:nvSpPr>
              <p:cNvPr id="11" name="任意多边形: 形状 4"/>
              <p:cNvSpPr/>
              <p:nvPr/>
            </p:nvSpPr>
            <p:spPr>
              <a:xfrm>
                <a:off x="4582160" y="2189797"/>
                <a:ext cx="4542790" cy="9525"/>
              </a:xfrm>
              <a:custGeom>
                <a:avLst/>
                <a:gdLst>
                  <a:gd name="connsiteX0" fmla="*/ 0 w 4543424"/>
                  <a:gd name="connsiteY0" fmla="*/ 0 h 9525"/>
                  <a:gd name="connsiteX1" fmla="*/ 4543425 w 4543424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543424" h="9525">
                    <a:moveTo>
                      <a:pt x="0" y="0"/>
                    </a:moveTo>
                    <a:lnTo>
                      <a:pt x="4543425" y="0"/>
                    </a:lnTo>
                  </a:path>
                </a:pathLst>
              </a:custGeom>
              <a:ln w="19050" cap="flat">
                <a:solidFill>
                  <a:srgbClr val="3F8BE8"/>
                </a:solidFill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任意多边形: 形状 5"/>
              <p:cNvSpPr/>
              <p:nvPr/>
            </p:nvSpPr>
            <p:spPr>
              <a:xfrm>
                <a:off x="3067050" y="4832032"/>
                <a:ext cx="6057900" cy="45719"/>
              </a:xfrm>
              <a:custGeom>
                <a:avLst/>
                <a:gdLst>
                  <a:gd name="connsiteX0" fmla="*/ 0 w 5274309"/>
                  <a:gd name="connsiteY0" fmla="*/ 0 h 8255"/>
                  <a:gd name="connsiteX1" fmla="*/ 5274310 w 5274309"/>
                  <a:gd name="connsiteY1" fmla="*/ 0 h 82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274309" h="8255">
                    <a:moveTo>
                      <a:pt x="0" y="0"/>
                    </a:moveTo>
                    <a:lnTo>
                      <a:pt x="5274310" y="0"/>
                    </a:lnTo>
                  </a:path>
                </a:pathLst>
              </a:custGeom>
              <a:ln w="16564" cap="flat">
                <a:solidFill>
                  <a:srgbClr val="3F8BE8"/>
                </a:solidFill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任意多边形: 形状 6"/>
              <p:cNvSpPr/>
              <p:nvPr/>
            </p:nvSpPr>
            <p:spPr>
              <a:xfrm>
                <a:off x="3067050" y="2067877"/>
                <a:ext cx="1275080" cy="253365"/>
              </a:xfrm>
              <a:custGeom>
                <a:avLst/>
                <a:gdLst>
                  <a:gd name="connsiteX0" fmla="*/ 53340 w 1275587"/>
                  <a:gd name="connsiteY0" fmla="*/ 249631 h 253898"/>
                  <a:gd name="connsiteX1" fmla="*/ 0 w 1275587"/>
                  <a:gd name="connsiteY1" fmla="*/ 249631 h 253898"/>
                  <a:gd name="connsiteX2" fmla="*/ 0 w 1275587"/>
                  <a:gd name="connsiteY2" fmla="*/ 4267 h 253898"/>
                  <a:gd name="connsiteX3" fmla="*/ 49073 w 1275587"/>
                  <a:gd name="connsiteY3" fmla="*/ 4267 h 253898"/>
                  <a:gd name="connsiteX4" fmla="*/ 144475 w 1275587"/>
                  <a:gd name="connsiteY4" fmla="*/ 149047 h 253898"/>
                  <a:gd name="connsiteX5" fmla="*/ 146304 w 1275587"/>
                  <a:gd name="connsiteY5" fmla="*/ 149047 h 253898"/>
                  <a:gd name="connsiteX6" fmla="*/ 146304 w 1275587"/>
                  <a:gd name="connsiteY6" fmla="*/ 4267 h 253898"/>
                  <a:gd name="connsiteX7" fmla="*/ 199644 w 1275587"/>
                  <a:gd name="connsiteY7" fmla="*/ 4267 h 253898"/>
                  <a:gd name="connsiteX8" fmla="*/ 199644 w 1275587"/>
                  <a:gd name="connsiteY8" fmla="*/ 249631 h 253898"/>
                  <a:gd name="connsiteX9" fmla="*/ 153314 w 1275587"/>
                  <a:gd name="connsiteY9" fmla="*/ 249631 h 253898"/>
                  <a:gd name="connsiteX10" fmla="*/ 55169 w 1275587"/>
                  <a:gd name="connsiteY10" fmla="*/ 104851 h 253898"/>
                  <a:gd name="connsiteX11" fmla="*/ 53340 w 1275587"/>
                  <a:gd name="connsiteY11" fmla="*/ 104851 h 253898"/>
                  <a:gd name="connsiteX12" fmla="*/ 53340 w 1275587"/>
                  <a:gd name="connsiteY12" fmla="*/ 249631 h 253898"/>
                  <a:gd name="connsiteX13" fmla="*/ 397764 w 1275587"/>
                  <a:gd name="connsiteY13" fmla="*/ 253898 h 253898"/>
                  <a:gd name="connsiteX14" fmla="*/ 337871 w 1275587"/>
                  <a:gd name="connsiteY14" fmla="*/ 238354 h 253898"/>
                  <a:gd name="connsiteX15" fmla="*/ 298704 w 1275587"/>
                  <a:gd name="connsiteY15" fmla="*/ 194310 h 253898"/>
                  <a:gd name="connsiteX16" fmla="*/ 284988 w 1275587"/>
                  <a:gd name="connsiteY16" fmla="*/ 127102 h 253898"/>
                  <a:gd name="connsiteX17" fmla="*/ 298704 w 1275587"/>
                  <a:gd name="connsiteY17" fmla="*/ 59741 h 253898"/>
                  <a:gd name="connsiteX18" fmla="*/ 337871 w 1275587"/>
                  <a:gd name="connsiteY18" fmla="*/ 15545 h 253898"/>
                  <a:gd name="connsiteX19" fmla="*/ 397764 w 1275587"/>
                  <a:gd name="connsiteY19" fmla="*/ 0 h 253898"/>
                  <a:gd name="connsiteX20" fmla="*/ 457505 w 1275587"/>
                  <a:gd name="connsiteY20" fmla="*/ 15545 h 253898"/>
                  <a:gd name="connsiteX21" fmla="*/ 496519 w 1275587"/>
                  <a:gd name="connsiteY21" fmla="*/ 59741 h 253898"/>
                  <a:gd name="connsiteX22" fmla="*/ 510235 w 1275587"/>
                  <a:gd name="connsiteY22" fmla="*/ 127102 h 253898"/>
                  <a:gd name="connsiteX23" fmla="*/ 496519 w 1275587"/>
                  <a:gd name="connsiteY23" fmla="*/ 194310 h 253898"/>
                  <a:gd name="connsiteX24" fmla="*/ 457505 w 1275587"/>
                  <a:gd name="connsiteY24" fmla="*/ 238354 h 253898"/>
                  <a:gd name="connsiteX25" fmla="*/ 397764 w 1275587"/>
                  <a:gd name="connsiteY25" fmla="*/ 253898 h 253898"/>
                  <a:gd name="connsiteX26" fmla="*/ 397764 w 1275587"/>
                  <a:gd name="connsiteY26" fmla="*/ 203911 h 253898"/>
                  <a:gd name="connsiteX27" fmla="*/ 440131 w 1275587"/>
                  <a:gd name="connsiteY27" fmla="*/ 183185 h 253898"/>
                  <a:gd name="connsiteX28" fmla="*/ 455676 w 1275587"/>
                  <a:gd name="connsiteY28" fmla="*/ 127102 h 253898"/>
                  <a:gd name="connsiteX29" fmla="*/ 440131 w 1275587"/>
                  <a:gd name="connsiteY29" fmla="*/ 70866 h 253898"/>
                  <a:gd name="connsiteX30" fmla="*/ 397764 w 1275587"/>
                  <a:gd name="connsiteY30" fmla="*/ 49987 h 253898"/>
                  <a:gd name="connsiteX31" fmla="*/ 355244 w 1275587"/>
                  <a:gd name="connsiteY31" fmla="*/ 70866 h 253898"/>
                  <a:gd name="connsiteX32" fmla="*/ 339547 w 1275587"/>
                  <a:gd name="connsiteY32" fmla="*/ 127102 h 253898"/>
                  <a:gd name="connsiteX33" fmla="*/ 355244 w 1275587"/>
                  <a:gd name="connsiteY33" fmla="*/ 183185 h 253898"/>
                  <a:gd name="connsiteX34" fmla="*/ 397764 w 1275587"/>
                  <a:gd name="connsiteY34" fmla="*/ 203911 h 253898"/>
                  <a:gd name="connsiteX35" fmla="*/ 704088 w 1275587"/>
                  <a:gd name="connsiteY35" fmla="*/ 249631 h 253898"/>
                  <a:gd name="connsiteX36" fmla="*/ 650748 w 1275587"/>
                  <a:gd name="connsiteY36" fmla="*/ 249631 h 253898"/>
                  <a:gd name="connsiteX37" fmla="*/ 650748 w 1275587"/>
                  <a:gd name="connsiteY37" fmla="*/ 54254 h 253898"/>
                  <a:gd name="connsiteX38" fmla="*/ 583692 w 1275587"/>
                  <a:gd name="connsiteY38" fmla="*/ 54254 h 253898"/>
                  <a:gd name="connsiteX39" fmla="*/ 583692 w 1275587"/>
                  <a:gd name="connsiteY39" fmla="*/ 4267 h 253898"/>
                  <a:gd name="connsiteX40" fmla="*/ 770839 w 1275587"/>
                  <a:gd name="connsiteY40" fmla="*/ 4267 h 253898"/>
                  <a:gd name="connsiteX41" fmla="*/ 770839 w 1275587"/>
                  <a:gd name="connsiteY41" fmla="*/ 54254 h 253898"/>
                  <a:gd name="connsiteX42" fmla="*/ 704088 w 1275587"/>
                  <a:gd name="connsiteY42" fmla="*/ 54254 h 253898"/>
                  <a:gd name="connsiteX43" fmla="*/ 704088 w 1275587"/>
                  <a:gd name="connsiteY43" fmla="*/ 249631 h 253898"/>
                  <a:gd name="connsiteX44" fmla="*/ 904342 w 1275587"/>
                  <a:gd name="connsiteY44" fmla="*/ 149352 h 253898"/>
                  <a:gd name="connsiteX45" fmla="*/ 904342 w 1275587"/>
                  <a:gd name="connsiteY45" fmla="*/ 201168 h 253898"/>
                  <a:gd name="connsiteX46" fmla="*/ 1015594 w 1275587"/>
                  <a:gd name="connsiteY46" fmla="*/ 201168 h 253898"/>
                  <a:gd name="connsiteX47" fmla="*/ 1015594 w 1275587"/>
                  <a:gd name="connsiteY47" fmla="*/ 249631 h 253898"/>
                  <a:gd name="connsiteX48" fmla="*/ 851002 w 1275587"/>
                  <a:gd name="connsiteY48" fmla="*/ 249631 h 253898"/>
                  <a:gd name="connsiteX49" fmla="*/ 851002 w 1275587"/>
                  <a:gd name="connsiteY49" fmla="*/ 4267 h 253898"/>
                  <a:gd name="connsiteX50" fmla="*/ 1011936 w 1275587"/>
                  <a:gd name="connsiteY50" fmla="*/ 4267 h 253898"/>
                  <a:gd name="connsiteX51" fmla="*/ 1011936 w 1275587"/>
                  <a:gd name="connsiteY51" fmla="*/ 52730 h 253898"/>
                  <a:gd name="connsiteX52" fmla="*/ 904342 w 1275587"/>
                  <a:gd name="connsiteY52" fmla="*/ 52730 h 253898"/>
                  <a:gd name="connsiteX53" fmla="*/ 904342 w 1275587"/>
                  <a:gd name="connsiteY53" fmla="*/ 100889 h 253898"/>
                  <a:gd name="connsiteX54" fmla="*/ 1006145 w 1275587"/>
                  <a:gd name="connsiteY54" fmla="*/ 100889 h 253898"/>
                  <a:gd name="connsiteX55" fmla="*/ 1006145 w 1275587"/>
                  <a:gd name="connsiteY55" fmla="*/ 149352 h 253898"/>
                  <a:gd name="connsiteX56" fmla="*/ 904342 w 1275587"/>
                  <a:gd name="connsiteY56" fmla="*/ 149352 h 253898"/>
                  <a:gd name="connsiteX57" fmla="*/ 1180490 w 1275587"/>
                  <a:gd name="connsiteY57" fmla="*/ 253898 h 253898"/>
                  <a:gd name="connsiteX58" fmla="*/ 1121969 w 1275587"/>
                  <a:gd name="connsiteY58" fmla="*/ 237287 h 253898"/>
                  <a:gd name="connsiteX59" fmla="*/ 1084478 w 1275587"/>
                  <a:gd name="connsiteY59" fmla="*/ 193243 h 253898"/>
                  <a:gd name="connsiteX60" fmla="*/ 1130808 w 1275587"/>
                  <a:gd name="connsiteY60" fmla="*/ 171602 h 253898"/>
                  <a:gd name="connsiteX61" fmla="*/ 1150315 w 1275587"/>
                  <a:gd name="connsiteY61" fmla="*/ 196596 h 253898"/>
                  <a:gd name="connsiteX62" fmla="*/ 1180795 w 1275587"/>
                  <a:gd name="connsiteY62" fmla="*/ 205130 h 253898"/>
                  <a:gd name="connsiteX63" fmla="*/ 1209446 w 1275587"/>
                  <a:gd name="connsiteY63" fmla="*/ 198425 h 253898"/>
                  <a:gd name="connsiteX64" fmla="*/ 1220114 w 1275587"/>
                  <a:gd name="connsiteY64" fmla="*/ 181051 h 253898"/>
                  <a:gd name="connsiteX65" fmla="*/ 1216152 w 1275587"/>
                  <a:gd name="connsiteY65" fmla="*/ 168402 h 253898"/>
                  <a:gd name="connsiteX66" fmla="*/ 1202436 w 1275587"/>
                  <a:gd name="connsiteY66" fmla="*/ 159106 h 253898"/>
                  <a:gd name="connsiteX67" fmla="*/ 1174090 w 1275587"/>
                  <a:gd name="connsiteY67" fmla="*/ 149657 h 253898"/>
                  <a:gd name="connsiteX68" fmla="*/ 1133551 w 1275587"/>
                  <a:gd name="connsiteY68" fmla="*/ 135636 h 253898"/>
                  <a:gd name="connsiteX69" fmla="*/ 1105052 w 1275587"/>
                  <a:gd name="connsiteY69" fmla="*/ 113843 h 253898"/>
                  <a:gd name="connsiteX70" fmla="*/ 1092708 w 1275587"/>
                  <a:gd name="connsiteY70" fmla="*/ 74676 h 253898"/>
                  <a:gd name="connsiteX71" fmla="*/ 1104748 w 1275587"/>
                  <a:gd name="connsiteY71" fmla="*/ 36271 h 253898"/>
                  <a:gd name="connsiteX72" fmla="*/ 1137666 w 1275587"/>
                  <a:gd name="connsiteY72" fmla="*/ 9601 h 253898"/>
                  <a:gd name="connsiteX73" fmla="*/ 1183843 w 1275587"/>
                  <a:gd name="connsiteY73" fmla="*/ 0 h 253898"/>
                  <a:gd name="connsiteX74" fmla="*/ 1275588 w 1275587"/>
                  <a:gd name="connsiteY74" fmla="*/ 57912 h 253898"/>
                  <a:gd name="connsiteX75" fmla="*/ 1229868 w 1275587"/>
                  <a:gd name="connsiteY75" fmla="*/ 80162 h 253898"/>
                  <a:gd name="connsiteX76" fmla="*/ 1210513 w 1275587"/>
                  <a:gd name="connsiteY76" fmla="*/ 56236 h 253898"/>
                  <a:gd name="connsiteX77" fmla="*/ 1183234 w 1275587"/>
                  <a:gd name="connsiteY77" fmla="*/ 48768 h 253898"/>
                  <a:gd name="connsiteX78" fmla="*/ 1157630 w 1275587"/>
                  <a:gd name="connsiteY78" fmla="*/ 55474 h 253898"/>
                  <a:gd name="connsiteX79" fmla="*/ 1147267 w 1275587"/>
                  <a:gd name="connsiteY79" fmla="*/ 71933 h 253898"/>
                  <a:gd name="connsiteX80" fmla="*/ 1151534 w 1275587"/>
                  <a:gd name="connsiteY80" fmla="*/ 85192 h 253898"/>
                  <a:gd name="connsiteX81" fmla="*/ 1165403 w 1275587"/>
                  <a:gd name="connsiteY81" fmla="*/ 94336 h 253898"/>
                  <a:gd name="connsiteX82" fmla="*/ 1193902 w 1275587"/>
                  <a:gd name="connsiteY82" fmla="*/ 103632 h 253898"/>
                  <a:gd name="connsiteX83" fmla="*/ 1234135 w 1275587"/>
                  <a:gd name="connsiteY83" fmla="*/ 117196 h 253898"/>
                  <a:gd name="connsiteX84" fmla="*/ 1262482 w 1275587"/>
                  <a:gd name="connsiteY84" fmla="*/ 138836 h 253898"/>
                  <a:gd name="connsiteX85" fmla="*/ 1274674 w 1275587"/>
                  <a:gd name="connsiteY85" fmla="*/ 178003 h 253898"/>
                  <a:gd name="connsiteX86" fmla="*/ 1262634 w 1275587"/>
                  <a:gd name="connsiteY86" fmla="*/ 218084 h 253898"/>
                  <a:gd name="connsiteX87" fmla="*/ 1229258 w 1275587"/>
                  <a:gd name="connsiteY87" fmla="*/ 244602 h 253898"/>
                  <a:gd name="connsiteX88" fmla="*/ 1180490 w 1275587"/>
                  <a:gd name="connsiteY88" fmla="*/ 253898 h 253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1275587" h="253898">
                    <a:moveTo>
                      <a:pt x="53340" y="249631"/>
                    </a:moveTo>
                    <a:lnTo>
                      <a:pt x="0" y="249631"/>
                    </a:lnTo>
                    <a:lnTo>
                      <a:pt x="0" y="4267"/>
                    </a:lnTo>
                    <a:lnTo>
                      <a:pt x="49073" y="4267"/>
                    </a:lnTo>
                    <a:lnTo>
                      <a:pt x="144475" y="149047"/>
                    </a:lnTo>
                    <a:lnTo>
                      <a:pt x="146304" y="149047"/>
                    </a:lnTo>
                    <a:lnTo>
                      <a:pt x="146304" y="4267"/>
                    </a:lnTo>
                    <a:lnTo>
                      <a:pt x="199644" y="4267"/>
                    </a:lnTo>
                    <a:lnTo>
                      <a:pt x="199644" y="249631"/>
                    </a:lnTo>
                    <a:lnTo>
                      <a:pt x="153314" y="249631"/>
                    </a:lnTo>
                    <a:lnTo>
                      <a:pt x="55169" y="104851"/>
                    </a:lnTo>
                    <a:lnTo>
                      <a:pt x="53340" y="104851"/>
                    </a:lnTo>
                    <a:lnTo>
                      <a:pt x="53340" y="249631"/>
                    </a:lnTo>
                    <a:close/>
                    <a:moveTo>
                      <a:pt x="397764" y="253898"/>
                    </a:moveTo>
                    <a:cubicBezTo>
                      <a:pt x="374802" y="253898"/>
                      <a:pt x="354838" y="248717"/>
                      <a:pt x="337871" y="238354"/>
                    </a:cubicBezTo>
                    <a:cubicBezTo>
                      <a:pt x="320904" y="227990"/>
                      <a:pt x="307848" y="213309"/>
                      <a:pt x="298704" y="194310"/>
                    </a:cubicBezTo>
                    <a:cubicBezTo>
                      <a:pt x="289560" y="175311"/>
                      <a:pt x="284988" y="152908"/>
                      <a:pt x="284988" y="127102"/>
                    </a:cubicBezTo>
                    <a:cubicBezTo>
                      <a:pt x="284988" y="101295"/>
                      <a:pt x="289560" y="78842"/>
                      <a:pt x="298704" y="59741"/>
                    </a:cubicBezTo>
                    <a:cubicBezTo>
                      <a:pt x="307848" y="40640"/>
                      <a:pt x="320904" y="25908"/>
                      <a:pt x="337871" y="15545"/>
                    </a:cubicBezTo>
                    <a:cubicBezTo>
                      <a:pt x="354838" y="5182"/>
                      <a:pt x="374802" y="0"/>
                      <a:pt x="397764" y="0"/>
                    </a:cubicBezTo>
                    <a:cubicBezTo>
                      <a:pt x="420726" y="0"/>
                      <a:pt x="440639" y="5182"/>
                      <a:pt x="457505" y="15545"/>
                    </a:cubicBezTo>
                    <a:cubicBezTo>
                      <a:pt x="474370" y="25908"/>
                      <a:pt x="487375" y="40640"/>
                      <a:pt x="496519" y="59741"/>
                    </a:cubicBezTo>
                    <a:cubicBezTo>
                      <a:pt x="505663" y="78842"/>
                      <a:pt x="510235" y="101295"/>
                      <a:pt x="510235" y="127102"/>
                    </a:cubicBezTo>
                    <a:cubicBezTo>
                      <a:pt x="510235" y="152908"/>
                      <a:pt x="505663" y="175311"/>
                      <a:pt x="496519" y="194310"/>
                    </a:cubicBezTo>
                    <a:cubicBezTo>
                      <a:pt x="487375" y="213309"/>
                      <a:pt x="474370" y="227990"/>
                      <a:pt x="457505" y="238354"/>
                    </a:cubicBezTo>
                    <a:cubicBezTo>
                      <a:pt x="440639" y="248717"/>
                      <a:pt x="420726" y="253898"/>
                      <a:pt x="397764" y="253898"/>
                    </a:cubicBezTo>
                    <a:close/>
                    <a:moveTo>
                      <a:pt x="397764" y="203911"/>
                    </a:moveTo>
                    <a:cubicBezTo>
                      <a:pt x="415646" y="203911"/>
                      <a:pt x="429768" y="197002"/>
                      <a:pt x="440131" y="183185"/>
                    </a:cubicBezTo>
                    <a:cubicBezTo>
                      <a:pt x="450494" y="169367"/>
                      <a:pt x="455676" y="150673"/>
                      <a:pt x="455676" y="127102"/>
                    </a:cubicBezTo>
                    <a:cubicBezTo>
                      <a:pt x="455676" y="103530"/>
                      <a:pt x="450494" y="84785"/>
                      <a:pt x="440131" y="70866"/>
                    </a:cubicBezTo>
                    <a:cubicBezTo>
                      <a:pt x="429768" y="56947"/>
                      <a:pt x="415646" y="49987"/>
                      <a:pt x="397764" y="49987"/>
                    </a:cubicBezTo>
                    <a:cubicBezTo>
                      <a:pt x="379882" y="49987"/>
                      <a:pt x="365709" y="56947"/>
                      <a:pt x="355244" y="70866"/>
                    </a:cubicBezTo>
                    <a:cubicBezTo>
                      <a:pt x="344780" y="84785"/>
                      <a:pt x="339547" y="103530"/>
                      <a:pt x="339547" y="127102"/>
                    </a:cubicBezTo>
                    <a:cubicBezTo>
                      <a:pt x="339547" y="150673"/>
                      <a:pt x="344780" y="169367"/>
                      <a:pt x="355244" y="183185"/>
                    </a:cubicBezTo>
                    <a:cubicBezTo>
                      <a:pt x="365709" y="197002"/>
                      <a:pt x="379882" y="203911"/>
                      <a:pt x="397764" y="203911"/>
                    </a:cubicBezTo>
                    <a:close/>
                    <a:moveTo>
                      <a:pt x="704088" y="249631"/>
                    </a:moveTo>
                    <a:lnTo>
                      <a:pt x="650748" y="249631"/>
                    </a:lnTo>
                    <a:lnTo>
                      <a:pt x="650748" y="54254"/>
                    </a:lnTo>
                    <a:lnTo>
                      <a:pt x="583692" y="54254"/>
                    </a:lnTo>
                    <a:lnTo>
                      <a:pt x="583692" y="4267"/>
                    </a:lnTo>
                    <a:lnTo>
                      <a:pt x="770839" y="4267"/>
                    </a:lnTo>
                    <a:lnTo>
                      <a:pt x="770839" y="54254"/>
                    </a:lnTo>
                    <a:lnTo>
                      <a:pt x="704088" y="54254"/>
                    </a:lnTo>
                    <a:lnTo>
                      <a:pt x="704088" y="249631"/>
                    </a:lnTo>
                    <a:close/>
                    <a:moveTo>
                      <a:pt x="904342" y="149352"/>
                    </a:moveTo>
                    <a:lnTo>
                      <a:pt x="904342" y="201168"/>
                    </a:lnTo>
                    <a:lnTo>
                      <a:pt x="1015594" y="201168"/>
                    </a:lnTo>
                    <a:lnTo>
                      <a:pt x="1015594" y="249631"/>
                    </a:lnTo>
                    <a:lnTo>
                      <a:pt x="851002" y="249631"/>
                    </a:lnTo>
                    <a:lnTo>
                      <a:pt x="851002" y="4267"/>
                    </a:lnTo>
                    <a:lnTo>
                      <a:pt x="1011936" y="4267"/>
                    </a:lnTo>
                    <a:lnTo>
                      <a:pt x="1011936" y="52730"/>
                    </a:lnTo>
                    <a:lnTo>
                      <a:pt x="904342" y="52730"/>
                    </a:lnTo>
                    <a:lnTo>
                      <a:pt x="904342" y="100889"/>
                    </a:lnTo>
                    <a:lnTo>
                      <a:pt x="1006145" y="100889"/>
                    </a:lnTo>
                    <a:lnTo>
                      <a:pt x="1006145" y="149352"/>
                    </a:lnTo>
                    <a:lnTo>
                      <a:pt x="904342" y="149352"/>
                    </a:lnTo>
                    <a:close/>
                    <a:moveTo>
                      <a:pt x="1180490" y="253898"/>
                    </a:moveTo>
                    <a:cubicBezTo>
                      <a:pt x="1158138" y="253898"/>
                      <a:pt x="1138631" y="248361"/>
                      <a:pt x="1121969" y="237287"/>
                    </a:cubicBezTo>
                    <a:cubicBezTo>
                      <a:pt x="1105306" y="226212"/>
                      <a:pt x="1092810" y="211531"/>
                      <a:pt x="1084478" y="193243"/>
                    </a:cubicBezTo>
                    <a:lnTo>
                      <a:pt x="1130808" y="171602"/>
                    </a:lnTo>
                    <a:cubicBezTo>
                      <a:pt x="1135075" y="182575"/>
                      <a:pt x="1141578" y="190906"/>
                      <a:pt x="1150315" y="196596"/>
                    </a:cubicBezTo>
                    <a:cubicBezTo>
                      <a:pt x="1159053" y="202286"/>
                      <a:pt x="1169213" y="205130"/>
                      <a:pt x="1180795" y="205130"/>
                    </a:cubicBezTo>
                    <a:cubicBezTo>
                      <a:pt x="1192784" y="205130"/>
                      <a:pt x="1202335" y="202895"/>
                      <a:pt x="1209446" y="198425"/>
                    </a:cubicBezTo>
                    <a:cubicBezTo>
                      <a:pt x="1216559" y="193954"/>
                      <a:pt x="1220114" y="188163"/>
                      <a:pt x="1220114" y="181051"/>
                    </a:cubicBezTo>
                    <a:cubicBezTo>
                      <a:pt x="1220114" y="175971"/>
                      <a:pt x="1218794" y="171755"/>
                      <a:pt x="1216152" y="168402"/>
                    </a:cubicBezTo>
                    <a:cubicBezTo>
                      <a:pt x="1213510" y="165049"/>
                      <a:pt x="1208938" y="161950"/>
                      <a:pt x="1202436" y="159106"/>
                    </a:cubicBezTo>
                    <a:cubicBezTo>
                      <a:pt x="1195934" y="156261"/>
                      <a:pt x="1186485" y="153111"/>
                      <a:pt x="1174090" y="149657"/>
                    </a:cubicBezTo>
                    <a:cubicBezTo>
                      <a:pt x="1157834" y="144983"/>
                      <a:pt x="1144321" y="140310"/>
                      <a:pt x="1133551" y="135636"/>
                    </a:cubicBezTo>
                    <a:cubicBezTo>
                      <a:pt x="1122782" y="130962"/>
                      <a:pt x="1113282" y="123698"/>
                      <a:pt x="1105052" y="113843"/>
                    </a:cubicBezTo>
                    <a:cubicBezTo>
                      <a:pt x="1096823" y="103988"/>
                      <a:pt x="1092708" y="90932"/>
                      <a:pt x="1092708" y="74676"/>
                    </a:cubicBezTo>
                    <a:cubicBezTo>
                      <a:pt x="1092708" y="60452"/>
                      <a:pt x="1096721" y="47650"/>
                      <a:pt x="1104748" y="36271"/>
                    </a:cubicBezTo>
                    <a:cubicBezTo>
                      <a:pt x="1112774" y="24892"/>
                      <a:pt x="1123747" y="16002"/>
                      <a:pt x="1137666" y="9601"/>
                    </a:cubicBezTo>
                    <a:cubicBezTo>
                      <a:pt x="1151585" y="3200"/>
                      <a:pt x="1166978" y="0"/>
                      <a:pt x="1183843" y="0"/>
                    </a:cubicBezTo>
                    <a:cubicBezTo>
                      <a:pt x="1226312" y="0"/>
                      <a:pt x="1256894" y="19304"/>
                      <a:pt x="1275588" y="57912"/>
                    </a:cubicBezTo>
                    <a:lnTo>
                      <a:pt x="1229868" y="80162"/>
                    </a:lnTo>
                    <a:cubicBezTo>
                      <a:pt x="1224585" y="69190"/>
                      <a:pt x="1218133" y="61214"/>
                      <a:pt x="1210513" y="56236"/>
                    </a:cubicBezTo>
                    <a:cubicBezTo>
                      <a:pt x="1202893" y="51257"/>
                      <a:pt x="1193800" y="48768"/>
                      <a:pt x="1183234" y="48768"/>
                    </a:cubicBezTo>
                    <a:cubicBezTo>
                      <a:pt x="1173074" y="48768"/>
                      <a:pt x="1164539" y="51003"/>
                      <a:pt x="1157630" y="55474"/>
                    </a:cubicBezTo>
                    <a:cubicBezTo>
                      <a:pt x="1150722" y="59944"/>
                      <a:pt x="1147267" y="65430"/>
                      <a:pt x="1147267" y="71933"/>
                    </a:cubicBezTo>
                    <a:cubicBezTo>
                      <a:pt x="1147267" y="77419"/>
                      <a:pt x="1148690" y="81839"/>
                      <a:pt x="1151534" y="85192"/>
                    </a:cubicBezTo>
                    <a:cubicBezTo>
                      <a:pt x="1154379" y="88544"/>
                      <a:pt x="1159002" y="91592"/>
                      <a:pt x="1165403" y="94336"/>
                    </a:cubicBezTo>
                    <a:cubicBezTo>
                      <a:pt x="1171804" y="97079"/>
                      <a:pt x="1181303" y="100178"/>
                      <a:pt x="1193902" y="103632"/>
                    </a:cubicBezTo>
                    <a:cubicBezTo>
                      <a:pt x="1209954" y="108102"/>
                      <a:pt x="1223366" y="112624"/>
                      <a:pt x="1234135" y="117196"/>
                    </a:cubicBezTo>
                    <a:cubicBezTo>
                      <a:pt x="1244905" y="121768"/>
                      <a:pt x="1254354" y="128981"/>
                      <a:pt x="1262482" y="138836"/>
                    </a:cubicBezTo>
                    <a:cubicBezTo>
                      <a:pt x="1270610" y="148692"/>
                      <a:pt x="1274674" y="161747"/>
                      <a:pt x="1274674" y="178003"/>
                    </a:cubicBezTo>
                    <a:cubicBezTo>
                      <a:pt x="1274674" y="193243"/>
                      <a:pt x="1270660" y="206604"/>
                      <a:pt x="1262634" y="218084"/>
                    </a:cubicBezTo>
                    <a:cubicBezTo>
                      <a:pt x="1254608" y="229565"/>
                      <a:pt x="1243482" y="238404"/>
                      <a:pt x="1229258" y="244602"/>
                    </a:cubicBezTo>
                    <a:cubicBezTo>
                      <a:pt x="1215034" y="250800"/>
                      <a:pt x="1198778" y="253898"/>
                      <a:pt x="1180490" y="253898"/>
                    </a:cubicBezTo>
                    <a:close/>
                  </a:path>
                </a:pathLst>
              </a:custGeom>
              <a:solidFill>
                <a:srgbClr val="3F8BE8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3485999" y="2586937"/>
              <a:ext cx="5220000" cy="185748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algn="just">
                <a:lnSpc>
                  <a:spcPct val="170000"/>
                </a:lnSpc>
              </a:pPr>
              <a:r>
                <a:rPr lang="en-US" altLang="zh-CN" sz="1600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                    </a:t>
              </a:r>
              <a:r>
                <a:rPr lang="zh-CN" altLang="en-US" sz="4000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汇报结束</a:t>
              </a:r>
              <a:endParaRPr lang="zh-CN" altLang="en-US" sz="4000" dirty="0"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just">
                <a:lnSpc>
                  <a:spcPct val="170000"/>
                </a:lnSpc>
              </a:pPr>
              <a:r>
                <a:rPr lang="zh-CN" altLang="en-US" sz="4000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en-US" altLang="zh-CN" sz="4000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       </a:t>
              </a:r>
              <a:r>
                <a:rPr lang="zh-CN" altLang="en-US" sz="4000" dirty="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谢谢大家</a:t>
              </a:r>
              <a:endParaRPr lang="zh-CN" altLang="en-US" sz="400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13&quot;:[4364950,20025430,4721720]}"/>
</p:tagLst>
</file>

<file path=ppt/tags/tag2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3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4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5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6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7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8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9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10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11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12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13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14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15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16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17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18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19.xml><?xml version="1.0" encoding="utf-8"?>
<p:tagLst xmlns:p="http://schemas.openxmlformats.org/presentationml/2006/main">
  <p:tag name="KSO_WM_DIAGRAM_VIRTUALLY_FRAME" val="{&quot;height&quot;:365,&quot;left&quot;:60,&quot;top&quot;:130,&quot;width&quot;:850}"/>
</p:tagLst>
</file>

<file path=ppt/tags/tag20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21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22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23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24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25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26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27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28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29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30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31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32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33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34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35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36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37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38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39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40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41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42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43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44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45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46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47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48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49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50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51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52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53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54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55.xml><?xml version="1.0" encoding="utf-8"?>
<p:tagLst xmlns:p="http://schemas.openxmlformats.org/presentationml/2006/main">
  <p:tag name="KSO_WM_DIAGRAM_VIRTUALLY_FRAME" val="{&quot;height&quot;:300,&quot;left&quot;:495,&quot;top&quot;:175,&quot;width&quot;:423}"/>
</p:tagLst>
</file>

<file path=ppt/tags/tag56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57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58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59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60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61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62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63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64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65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66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67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68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69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70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71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72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73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74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75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76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77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78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79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80.xml><?xml version="1.0" encoding="utf-8"?>
<p:tagLst xmlns:p="http://schemas.openxmlformats.org/presentationml/2006/main">
  <p:tag name="KSO_WM_DIAGRAM_VIRTUALLY_FRAME" val="{&quot;height&quot;:170,&quot;left&quot;:60,&quot;top&quot;:130,&quot;width&quot;:860}"/>
</p:tagLst>
</file>

<file path=ppt/tags/tag81.xml><?xml version="1.0" encoding="utf-8"?>
<p:tagLst xmlns:p="http://schemas.openxmlformats.org/presentationml/2006/main">
  <p:tag name="resource_record_key" val="{&quot;13&quot;:[4364950,20025430,4721720]}"/>
  <p:tag name="commondata" val="eyJoZGlkIjoiOWJlZjNiZTgzY2MwZjFjZTEyYmUwNjI3NGQ4OGZjND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5640</Words>
  <Application>WPS 演示</Application>
  <PresentationFormat/>
  <Paragraphs>351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Source Code Pro</vt:lpstr>
      <vt:lpstr>FFont-Family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别吵我在思考</cp:lastModifiedBy>
  <cp:revision>1</cp:revision>
  <dcterms:created xsi:type="dcterms:W3CDTF">2026-07-23T03:43:38Z</dcterms:created>
  <dcterms:modified xsi:type="dcterms:W3CDTF">2026-07-23T03:43:38Z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{"Label":"1","ContentProducer":"001191110102MACQD9K64010000","ProduceID":"7665550432110644188","ReservedCode1":"","ContentPropagator":"","PropagateID":"","ReservedCode2":""}</vt:lpwstr>
  </property>
  <property fmtid="{D5CDD505-2E9C-101B-9397-08002B2CF9AE}" pid="3" name="ICV">
    <vt:lpwstr>0EBFA47B94EC4E6180D75E5691F296B0_12</vt:lpwstr>
  </property>
  <property fmtid="{D5CDD505-2E9C-101B-9397-08002B2CF9AE}" pid="4" name="KSOProductBuildVer">
    <vt:lpwstr>2052-12.1.0.17468</vt:lpwstr>
  </property>
</Properties>
</file>